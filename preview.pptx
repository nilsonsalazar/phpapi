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bin" ContentType="application/vnd.openxmlformats-officedocument.oleObject"/>
  <Override PartName="/ppt/notesSlides/notesSlide30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29.xml" ContentType="application/vnd.openxmlformats-officedocument.presentationml.slide+xml"/>
  <Override PartName="/ppt/slides/slide2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21.xml" ContentType="application/vnd.openxmlformats-officedocument.presentationml.slide+xml"/>
  <Override PartName="/ppt/slides/slide24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notesSlides/notesSlide7.xml" ContentType="application/vnd.openxmlformats-officedocument.presentationml.notes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4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theme/theme1.xml" ContentType="application/vnd.openxmlformats-officedocument.theme+xml"/>
  <Override PartName="/docProps/app.xml" ContentType="application/vnd.openxmlformats-officedocument.extended-properties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s/slide27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viewProps.xml" ContentType="application/vnd.openxmlformats-officedocument.presentationml.viewProps+xml"/>
  <Override PartName="/ppt/notesSlides/notesSlide18.xml" ContentType="application/vnd.openxmlformats-officedocument.presentationml.notes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notesSlides/notesSlide29.xml" ContentType="application/vnd.openxmlformats-officedocument.presentationml.notesSlide+xml"/>
  <Override PartName="/ppt/notesSlides/notesSlide2.xml" ContentType="application/vnd.openxmlformats-officedocument.presentationml.notesSlide+xml"/>
  <Override PartName="/ppt/tableStyles.xml" ContentType="application/vnd.openxmlformats-officedocument.presentationml.tableStyl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3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 /><Relationship Id="rId35" Type="http://schemas.openxmlformats.org/officeDocument/2006/relationships/tableStyles" Target="tableStyles.xml" /><Relationship Id="rId36" Type="http://schemas.openxmlformats.org/officeDocument/2006/relationships/viewProps" Target="viewProps.xml" /></Relationships>
</file>

<file path=ppt/handoutMasters/_rels/handoutMaster1.xml.rels><?xml version="1.0" encoding="UTF-8" standalone="yes"?>								<Relationships xmlns="http://schemas.openxmlformats.org/package/2006/relationships">								<Relationship Id="rId1" Type="http://schemas.openxmlformats.org/officeDocument/2006/relationships/theme" Target="../theme/theme0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 name="Slide 1">
    <p:bg>
      <p:bgPr>
        <a:solidFill>
          <a:srgbClr val="243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313A"/>
          </a:solidFill>
          <a:ln w="12700">
            <a:solidFill>
              <a:srgbClr val="2431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0"/>
            <a:ext cx="3639312" cy="6858000"/>
          </a:xfrm>
          <a:prstGeom prst="rect">
            <a:avLst/>
          </a:prstGeom>
          <a:solidFill>
            <a:srgbClr val="1C282F"/>
          </a:solidFill>
          <a:ln w="12700">
            <a:solidFill>
              <a:srgbClr val="1C28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33688" y="950976"/>
            <a:ext cx="256032" cy="4663440"/>
          </a:xfrm>
          <a:prstGeom prst="rect">
            <a:avLst/>
          </a:prstGeom>
          <a:solidFill>
            <a:srgbClr val="C56D4B"/>
          </a:solidFill>
          <a:ln w="12700">
            <a:solidFill>
              <a:srgbClr val="C56D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1170432"/>
            <a:ext cx="256032" cy="4224528"/>
          </a:xfrm>
          <a:prstGeom prst="rect">
            <a:avLst/>
          </a:prstGeom>
          <a:solidFill>
            <a:srgbClr val="7F8B58"/>
          </a:solidFill>
          <a:ln w="12700">
            <a:solidFill>
              <a:srgbClr val="7F8B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02952" y="1389888"/>
            <a:ext cx="256032" cy="3785616"/>
          </a:xfrm>
          <a:prstGeom prst="rect">
            <a:avLst/>
          </a:prstGeom>
          <a:solidFill>
            <a:srgbClr val="D78B2E"/>
          </a:solidFill>
          <a:ln w="12700">
            <a:solidFill>
              <a:srgbClr val="D78B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87584" y="1609344"/>
            <a:ext cx="256032" cy="3346704"/>
          </a:xfrm>
          <a:prstGeom prst="rect">
            <a:avLst/>
          </a:prstGeom>
          <a:solidFill>
            <a:srgbClr val="2F708D"/>
          </a:solidFill>
          <a:ln w="12700">
            <a:solidFill>
              <a:srgbClr val="2F708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72216" y="1828800"/>
            <a:ext cx="256032" cy="2907792"/>
          </a:xfrm>
          <a:prstGeom prst="rect">
            <a:avLst/>
          </a:prstGeom>
          <a:solidFill>
            <a:srgbClr val="C74444"/>
          </a:solidFill>
          <a:ln w="12700">
            <a:solidFill>
              <a:srgbClr val="C7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640080"/>
            <a:ext cx="1673352" cy="329184"/>
          </a:xfrm>
          <a:prstGeom prst="roundRect">
            <a:avLst/>
          </a:prstGeom>
          <a:solidFill>
            <a:srgbClr val="D1A258"/>
          </a:solidFill>
          <a:ln w="7620">
            <a:solidFill>
              <a:srgbClr val="D1A25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708660"/>
            <a:ext cx="1453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110" dirty="0">
                <a:solidFill>
                  <a:srgbClr val="2431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DOCUMENTO MAESTRO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1261872"/>
            <a:ext cx="70866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PORTAFOLIO</a:t>
            </a:r>
            <a:endParaRPr lang="en-US" sz="35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ESTRATÉGICO</a:t>
            </a:r>
            <a:endParaRPr lang="en-US" sz="35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0540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kern="0" spc="180" dirty="0">
                <a:solidFill>
                  <a:srgbClr val="D1A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VERSIÓN 1.0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584448"/>
            <a:ext cx="6903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Cinco proyectos. Activos reales.</a:t>
            </a:r>
            <a:endParaRPr lang="en-US" sz="23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Una estrategia para convertir capacidad en demanda.</a:t>
            </a:r>
            <a:endParaRPr lang="en-US" sz="2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5897880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kern="0" spc="35" dirty="0">
                <a:solidFill>
                  <a:srgbClr val="C9D0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Allmoveis  |  SecondChance.pt  |  FlashStock.pt  |  ICCM Venue  |  Visual777.pt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9208008" y="5971032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b="1" kern="0" spc="11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JULIO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 name="Slide 2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38912"/>
            <a:ext cx="1133856" cy="329184"/>
          </a:xfrm>
          <a:prstGeom prst="roundRect">
            <a:avLst/>
          </a:prstGeom>
          <a:solidFill>
            <a:srgbClr val="D1A258"/>
          </a:solidFill>
          <a:ln w="7620">
            <a:solidFill>
              <a:srgbClr val="D1A25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13232" y="50749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11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ALCANCE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03504" y="877824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Para qué sirve este documento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1563624"/>
            <a:ext cx="10652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base común para pensar, priorizar y explicar los cinco proyectos sin confundir aspiraciones con hechos.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3504" y="2103120"/>
            <a:ext cx="349300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  <a:effectLst>
            <a:outerShdw blurRad="12700" dist="50800" dir="2700000" sx="100000" sy="100000" kx="0" ky="0" algn="bl" rotWithShape="0">
              <a:srgbClr val="9A9389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59536" y="2377440"/>
            <a:ext cx="530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D1A25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545336" y="2441448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30" dirty="0">
                <a:solidFill>
                  <a:srgbClr val="2431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ALINEAR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2953512"/>
            <a:ext cx="2944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3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 al equipo una lectura compartida de qué es cada marca, para quién existe y qué no debe prometer.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4370832" y="2103120"/>
            <a:ext cx="349300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  <a:effectLst>
            <a:outerShdw blurRad="12700" dist="50800" dir="2700000" sx="100000" sy="100000" kx="0" ky="0" algn="bl" rotWithShape="0">
              <a:srgbClr val="9A9389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626864" y="2377440"/>
            <a:ext cx="530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D1A25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5312664" y="2441448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30" dirty="0">
                <a:solidFill>
                  <a:srgbClr val="2431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DECIDIR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645152" y="2953512"/>
            <a:ext cx="2944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3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Convertir ideas dispersas en prioridades, entregables, pruebas y un orden de ejecución.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8138160" y="2103120"/>
            <a:ext cx="3493008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  <a:effectLst>
            <a:outerShdw blurRad="12700" dist="50800" dir="2700000" sx="100000" sy="100000" kx="0" ky="0" algn="bl" rotWithShape="0">
              <a:srgbClr val="9A9389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394192" y="2377440"/>
            <a:ext cx="530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D1A25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9079992" y="2441448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30" dirty="0">
                <a:solidFill>
                  <a:srgbClr val="2431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EXPLICAR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953512"/>
            <a:ext cx="29443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3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Presentar el portafolio a asistentes, colaboradores, socios o interesados con claridad y sin exageraciones.</a:t>
            </a:r>
            <a:endParaRPr lang="en-US" sz="1230" dirty="0"/>
          </a:p>
        </p:txBody>
      </p:sp>
      <p:sp>
        <p:nvSpPr>
          <p:cNvPr id="18" name="Shape 16"/>
          <p:cNvSpPr/>
          <p:nvPr/>
        </p:nvSpPr>
        <p:spPr>
          <a:xfrm>
            <a:off x="603504" y="4462272"/>
            <a:ext cx="10981944" cy="1115568"/>
          </a:xfrm>
          <a:prstGeom prst="roundRect">
            <a:avLst>
              <a:gd name="adj" fmla="val 6557"/>
            </a:avLst>
          </a:prstGeom>
          <a:solidFill>
            <a:srgbClr val="24313A"/>
          </a:solidFill>
          <a:ln w="10160">
            <a:solidFill>
              <a:srgbClr val="2431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9536" y="4709160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30" b="1" kern="0" spc="100" dirty="0">
                <a:solidFill>
                  <a:srgbClr val="D1A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LÍMITE DEL DOCUMENTO</a:t>
            </a:r>
            <a:endParaRPr lang="en-US" sz="830" dirty="0"/>
          </a:p>
        </p:txBody>
      </p:sp>
      <p:sp>
        <p:nvSpPr>
          <p:cNvPr id="20" name="Text 18"/>
          <p:cNvSpPr txBox="1"/>
          <p:nvPr/>
        </p:nvSpPr>
        <p:spPr>
          <a:xfrm>
            <a:off x="2523744" y="4617720"/>
            <a:ext cx="8613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Es una hipótesis estratégica V1.0. No sustituye la validación financiera, jurídica, fiscal, técnica, logística ni de protección al consumidor.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2523744" y="507492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9D0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Regla: lo que no esté medido o comprobado se presenta como supuesto, no como promesa.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4360" y="6519672"/>
            <a:ext cx="11000232" cy="0"/>
          </a:xfrm>
          <a:prstGeom prst="line">
            <a:avLst/>
          </a:prstGeom>
          <a:noFill/>
          <a:ln w="10160">
            <a:solidFill>
              <a:srgbClr val="D7D1C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3504" y="658368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kern="0" spc="9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PORTAFOLIO ESTRATÉGICO V1.0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3886200" y="6583680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kern="0" spc="90" dirty="0">
                <a:solidFill>
                  <a:srgbClr val="D1A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VISIÓN GENERAL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11119104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 name="Slide 3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38912"/>
            <a:ext cx="1124712" cy="329184"/>
          </a:xfrm>
          <a:prstGeom prst="roundRect">
            <a:avLst/>
          </a:prstGeom>
          <a:solidFill>
            <a:srgbClr val="D1A258"/>
          </a:solidFill>
          <a:ln w="7620">
            <a:solidFill>
              <a:srgbClr val="D1A25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13232" y="507492"/>
            <a:ext cx="905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11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REALIDAD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03504" y="877824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El punto cero no es falta de activos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1563624"/>
            <a:ext cx="10652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oportunidad consiste en ordenar y activar recursos que ya existen, no en inventar cinco negocios desde una hoja en blanco.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3504" y="1993392"/>
            <a:ext cx="4828032" cy="3593592"/>
          </a:xfrm>
          <a:prstGeom prst="roundRect">
            <a:avLst>
              <a:gd name="adj" fmla="val 2036"/>
            </a:avLst>
          </a:prstGeom>
          <a:solidFill>
            <a:srgbClr val="E7EEE9"/>
          </a:solidFill>
          <a:ln w="10160">
            <a:solidFill>
              <a:srgbClr val="E7EE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77824" y="2267712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kern="0" spc="120" dirty="0">
                <a:solidFill>
                  <a:srgbClr val="5073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 EXISTE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896112" y="2788920"/>
            <a:ext cx="82296" cy="82296"/>
          </a:xfrm>
          <a:prstGeom prst="ellipse">
            <a:avLst/>
          </a:prstGeom>
          <a:solidFill>
            <a:srgbClr val="50735F"/>
          </a:solidFill>
          <a:ln w="12700">
            <a:solidFill>
              <a:srgbClr val="50735F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60704" y="2697480"/>
            <a:ext cx="3950208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Tiendas físicas y experiencia real de venta.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96112" y="3260750"/>
            <a:ext cx="82296" cy="82296"/>
          </a:xfrm>
          <a:prstGeom prst="ellipse">
            <a:avLst/>
          </a:prstGeom>
          <a:solidFill>
            <a:srgbClr val="50735F"/>
          </a:solidFill>
          <a:ln w="12700">
            <a:solidFill>
              <a:srgbClr val="50735F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0704" y="3169310"/>
            <a:ext cx="3950208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Acceso a muebles nuevos, usados y lotes de liquidación.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6112" y="3732581"/>
            <a:ext cx="82296" cy="82296"/>
          </a:xfrm>
          <a:prstGeom prst="ellipse">
            <a:avLst/>
          </a:prstGeom>
          <a:solidFill>
            <a:srgbClr val="50735F"/>
          </a:solidFill>
          <a:ln w="12700">
            <a:solidFill>
              <a:srgbClr val="50735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60704" y="3641141"/>
            <a:ext cx="3950208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Shopify, prototipos web y trabajo previo en redes.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6112" y="4204411"/>
            <a:ext cx="82296" cy="82296"/>
          </a:xfrm>
          <a:prstGeom prst="ellipse">
            <a:avLst/>
          </a:prstGeom>
          <a:solidFill>
            <a:srgbClr val="50735F"/>
          </a:solidFill>
          <a:ln w="12700">
            <a:solidFill>
              <a:srgbClr val="50735F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60704" y="4112971"/>
            <a:ext cx="3950208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Sala, equipos audiovisuales y conocimiento técnico.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96112" y="4676242"/>
            <a:ext cx="82296" cy="82296"/>
          </a:xfrm>
          <a:prstGeom prst="ellipse">
            <a:avLst/>
          </a:prstGeom>
          <a:solidFill>
            <a:srgbClr val="50735F"/>
          </a:solidFill>
          <a:ln w="12700">
            <a:solidFill>
              <a:srgbClr val="50735F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60704" y="4584802"/>
            <a:ext cx="3950208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Capacidad interna para producir foto, vídeo y eventos.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57416" y="1993392"/>
            <a:ext cx="4828032" cy="3593592"/>
          </a:xfrm>
          <a:prstGeom prst="roundRect">
            <a:avLst>
              <a:gd name="adj" fmla="val 2036"/>
            </a:avLst>
          </a:prstGeom>
          <a:solidFill>
            <a:srgbClr val="F1E9E6"/>
          </a:solidFill>
          <a:ln w="10160">
            <a:solidFill>
              <a:srgbClr val="F1E9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31736" y="226771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20" b="1" kern="0" spc="120" dirty="0">
                <a:solidFill>
                  <a:srgbClr val="B653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FALTA CONSTRUIR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7050024" y="2788920"/>
            <a:ext cx="82296" cy="82296"/>
          </a:xfrm>
          <a:prstGeom prst="ellipse">
            <a:avLst/>
          </a:prstGeom>
          <a:solidFill>
            <a:srgbClr val="B6534C"/>
          </a:solidFill>
          <a:ln w="12700">
            <a:solidFill>
              <a:srgbClr val="B6534C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14616" y="2697480"/>
            <a:ext cx="3950208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Marcas independientes con promesas fáciles de entender.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050024" y="3260750"/>
            <a:ext cx="82296" cy="82296"/>
          </a:xfrm>
          <a:prstGeom prst="ellipse">
            <a:avLst/>
          </a:prstGeom>
          <a:solidFill>
            <a:srgbClr val="B6534C"/>
          </a:solidFill>
          <a:ln w="12700">
            <a:solidFill>
              <a:srgbClr val="B6534C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14616" y="3169310"/>
            <a:ext cx="3950208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Oferta, precios, procesos y responsabilidades documentados.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050024" y="3732581"/>
            <a:ext cx="82296" cy="82296"/>
          </a:xfrm>
          <a:prstGeom prst="ellipse">
            <a:avLst/>
          </a:prstGeom>
          <a:solidFill>
            <a:srgbClr val="B6534C"/>
          </a:solidFill>
          <a:ln w="12700">
            <a:solidFill>
              <a:srgbClr val="B6534C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14616" y="3641141"/>
            <a:ext cx="3950208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sistema de captación, seguimiento y conversión.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050024" y="4204411"/>
            <a:ext cx="82296" cy="82296"/>
          </a:xfrm>
          <a:prstGeom prst="ellipse">
            <a:avLst/>
          </a:prstGeom>
          <a:solidFill>
            <a:srgbClr val="B6534C"/>
          </a:solidFill>
          <a:ln w="12700">
            <a:solidFill>
              <a:srgbClr val="B6534C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214616" y="4112971"/>
            <a:ext cx="3950208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Datos fiables para stock, leads, ventas y rentabilidad.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050024" y="4676242"/>
            <a:ext cx="82296" cy="82296"/>
          </a:xfrm>
          <a:prstGeom prst="ellipse">
            <a:avLst/>
          </a:prstGeom>
          <a:solidFill>
            <a:srgbClr val="B6534C"/>
          </a:solidFill>
          <a:ln w="12700">
            <a:solidFill>
              <a:srgbClr val="B6534C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14616" y="4584802"/>
            <a:ext cx="3950208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Portfolio, referencias y confianza comercial en audiovisual.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40680" y="2962656"/>
            <a:ext cx="1289304" cy="1627632"/>
          </a:xfrm>
          <a:prstGeom prst="chevron">
            <a:avLst/>
          </a:prstGeom>
          <a:solidFill>
            <a:srgbClr val="D1A258"/>
          </a:solidFill>
          <a:ln w="12700">
            <a:solidFill>
              <a:srgbClr val="D1A25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0" y="3447288"/>
            <a:ext cx="1179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431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SISTEMA DE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431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ACTIVACIÓN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94360" y="6519672"/>
            <a:ext cx="11000232" cy="0"/>
          </a:xfrm>
          <a:prstGeom prst="line">
            <a:avLst/>
          </a:prstGeom>
          <a:noFill/>
          <a:ln w="10160">
            <a:solidFill>
              <a:srgbClr val="D7D1C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03504" y="658368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kern="0" spc="9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PORTAFOLIO ESTRATÉGICO V1.0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3886200" y="6583680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kern="0" spc="90" dirty="0">
                <a:solidFill>
                  <a:srgbClr val="D1A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VISIÓN GENERAL</a:t>
            </a:r>
            <a:endParaRPr lang="en-US" sz="750" dirty="0"/>
          </a:p>
        </p:txBody>
      </p:sp>
      <p:sp>
        <p:nvSpPr>
          <p:cNvPr id="35" name="Text 33"/>
          <p:cNvSpPr txBox="1"/>
          <p:nvPr/>
        </p:nvSpPr>
        <p:spPr>
          <a:xfrm>
            <a:off x="11119104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 name="Slide 4">
    <p:bg>
      <p:bgPr>
        <a:solidFill>
          <a:srgbClr val="243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93776"/>
            <a:ext cx="1344168" cy="329184"/>
          </a:xfrm>
          <a:prstGeom prst="roundRect">
            <a:avLst/>
          </a:prstGeom>
          <a:solidFill>
            <a:srgbClr val="D1A258"/>
          </a:solidFill>
          <a:ln w="7620">
            <a:solidFill>
              <a:srgbClr val="D1A25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68096" y="562356"/>
            <a:ext cx="1124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110" dirty="0">
                <a:solidFill>
                  <a:srgbClr val="2431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NORTE COMÚN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960120"/>
            <a:ext cx="10744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Visión y misión del portafolio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58368" y="1856232"/>
            <a:ext cx="5358384" cy="3291840"/>
          </a:xfrm>
          <a:prstGeom prst="roundRect">
            <a:avLst>
              <a:gd name="adj" fmla="val 2222"/>
            </a:avLst>
          </a:prstGeom>
          <a:solidFill>
            <a:srgbClr val="2D3B44"/>
          </a:solidFill>
          <a:ln w="10160">
            <a:solidFill>
              <a:srgbClr val="3B495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17627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30" dirty="0">
                <a:solidFill>
                  <a:srgbClr val="D1A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VISIÓN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615184"/>
            <a:ext cx="47365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Construir un ecosistema portugués de marcas prácticas y confiables que convierta productos, espacios y capacidades técnicas ya existentes en experiencias comerciales claras, rentables y reconocibles.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236208" y="1856232"/>
            <a:ext cx="5294376" cy="3291840"/>
          </a:xfrm>
          <a:prstGeom prst="roundRect">
            <a:avLst>
              <a:gd name="adj" fmla="val 2222"/>
            </a:avLst>
          </a:prstGeom>
          <a:solidFill>
            <a:srgbClr val="2D3B44"/>
          </a:solidFill>
          <a:ln w="10160">
            <a:solidFill>
              <a:srgbClr val="3B495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217627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30" dirty="0">
                <a:solidFill>
                  <a:srgbClr val="D1A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MISIÓN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615184"/>
            <a:ext cx="4617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Separar, ordenar y activar cinco propuestas con identidad propia, procesos simples, contenido útil y medición, aprovechando recursos comunes sin confundir al cliente.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5769864"/>
            <a:ext cx="941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0" b="1" kern="0" spc="110" dirty="0">
                <a:solidFill>
                  <a:srgbClr val="D1A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NORTH STAR</a:t>
            </a:r>
            <a:endParaRPr lang="en-US" sz="820" dirty="0"/>
          </a:p>
        </p:txBody>
      </p:sp>
      <p:sp>
        <p:nvSpPr>
          <p:cNvPr id="12" name="Text 10"/>
          <p:cNvSpPr txBox="1"/>
          <p:nvPr/>
        </p:nvSpPr>
        <p:spPr>
          <a:xfrm>
            <a:off x="1773936" y="5669280"/>
            <a:ext cx="8732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b="1" kern="0" spc="45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CONVERTIR ACTIVOS EN DEMANDA, Y DEMANDA EN OPERACIONES REPETIBLES.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11109960" y="65288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A9B2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 name="Slide 5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38912"/>
            <a:ext cx="1444752" cy="329184"/>
          </a:xfrm>
          <a:prstGeom prst="roundRect">
            <a:avLst/>
          </a:prstGeom>
          <a:solidFill>
            <a:srgbClr val="D1A258"/>
          </a:solidFill>
          <a:ln w="7620">
            <a:solidFill>
              <a:srgbClr val="D1A25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13232" y="507492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11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ARQUITECTURA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03504" y="877824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Cinco marcas, dos sistemas de negocio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1563624"/>
            <a:ext cx="10652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Retail y reutilización comparten operación comercial. Venue y producción audiovisual comparten capacidades técnicas.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3504" y="1993392"/>
            <a:ext cx="6903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77824" y="226771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05" dirty="0">
                <a:solidFill>
                  <a:srgbClr val="2431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RETAIL, HOGAR Y OPORTUNIDADES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96112" y="2761488"/>
            <a:ext cx="1956816" cy="2194560"/>
          </a:xfrm>
          <a:prstGeom prst="roundRect">
            <a:avLst>
              <a:gd name="adj" fmla="val 3738"/>
            </a:avLst>
          </a:prstGeom>
          <a:solidFill>
            <a:srgbClr val="F8F6F2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2761488"/>
            <a:ext cx="1956816" cy="164592"/>
          </a:xfrm>
          <a:prstGeom prst="rect">
            <a:avLst/>
          </a:prstGeom>
          <a:solidFill>
            <a:srgbClr val="C56D4B"/>
          </a:solidFill>
          <a:ln w="12700">
            <a:solidFill>
              <a:srgbClr val="C56D4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32004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ALLMOVEIS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7033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Mueble nuevo</a:t>
            </a:r>
            <a:endParaRPr lang="en-US" sz="1130" dirty="0"/>
          </a:p>
        </p:txBody>
      </p:sp>
      <p:sp>
        <p:nvSpPr>
          <p:cNvPr id="12" name="Text 10"/>
          <p:cNvSpPr txBox="1"/>
          <p:nvPr/>
        </p:nvSpPr>
        <p:spPr>
          <a:xfrm>
            <a:off x="1161288" y="4407408"/>
            <a:ext cx="612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60" b="1" kern="0" spc="70" dirty="0">
                <a:solidFill>
                  <a:srgbClr val="C56D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Producto</a:t>
            </a:r>
            <a:endParaRPr lang="en-US" sz="760" dirty="0"/>
          </a:p>
        </p:txBody>
      </p:sp>
      <p:sp>
        <p:nvSpPr>
          <p:cNvPr id="13" name="Text 11"/>
          <p:cNvSpPr txBox="1"/>
          <p:nvPr/>
        </p:nvSpPr>
        <p:spPr>
          <a:xfrm>
            <a:off x="1792224" y="4370832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predecible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081528" y="2761488"/>
            <a:ext cx="1956816" cy="2194560"/>
          </a:xfrm>
          <a:prstGeom prst="roundRect">
            <a:avLst>
              <a:gd name="adj" fmla="val 3738"/>
            </a:avLst>
          </a:prstGeom>
          <a:solidFill>
            <a:srgbClr val="F8F6F2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81528" y="2761488"/>
            <a:ext cx="1956816" cy="164592"/>
          </a:xfrm>
          <a:prstGeom prst="rect">
            <a:avLst/>
          </a:prstGeom>
          <a:solidFill>
            <a:srgbClr val="7F8B58"/>
          </a:solidFill>
          <a:ln w="12700">
            <a:solidFill>
              <a:srgbClr val="7F8B5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36976" y="32004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SECONDCHANCE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282696" y="37033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Usado y visita física</a:t>
            </a:r>
            <a:endParaRPr lang="en-US" sz="1130" dirty="0"/>
          </a:p>
        </p:txBody>
      </p:sp>
      <p:sp>
        <p:nvSpPr>
          <p:cNvPr id="18" name="Text 16"/>
          <p:cNvSpPr txBox="1"/>
          <p:nvPr/>
        </p:nvSpPr>
        <p:spPr>
          <a:xfrm>
            <a:off x="3346704" y="4407408"/>
            <a:ext cx="612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60" b="1" kern="0" spc="70" dirty="0">
                <a:solidFill>
                  <a:srgbClr val="7F8B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Producto</a:t>
            </a:r>
            <a:endParaRPr lang="en-US" sz="760" dirty="0"/>
          </a:p>
        </p:txBody>
      </p:sp>
      <p:sp>
        <p:nvSpPr>
          <p:cNvPr id="19" name="Text 17"/>
          <p:cNvSpPr txBox="1"/>
          <p:nvPr/>
        </p:nvSpPr>
        <p:spPr>
          <a:xfrm>
            <a:off x="3977640" y="4370832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rotativo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266944" y="2761488"/>
            <a:ext cx="1956816" cy="2194560"/>
          </a:xfrm>
          <a:prstGeom prst="roundRect">
            <a:avLst>
              <a:gd name="adj" fmla="val 3738"/>
            </a:avLst>
          </a:prstGeom>
          <a:solidFill>
            <a:srgbClr val="F8F6F2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66944" y="2761488"/>
            <a:ext cx="1956816" cy="164592"/>
          </a:xfrm>
          <a:prstGeom prst="rect">
            <a:avLst/>
          </a:prstGeom>
          <a:solidFill>
            <a:srgbClr val="D78B2E"/>
          </a:solidFill>
          <a:ln w="12700">
            <a:solidFill>
              <a:srgbClr val="D78B2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22392" y="32004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FLASHSTOCK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468112" y="37033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Liquidación episódica</a:t>
            </a:r>
            <a:endParaRPr lang="en-US" sz="1130" dirty="0"/>
          </a:p>
        </p:txBody>
      </p:sp>
      <p:sp>
        <p:nvSpPr>
          <p:cNvPr id="24" name="Text 22"/>
          <p:cNvSpPr txBox="1"/>
          <p:nvPr/>
        </p:nvSpPr>
        <p:spPr>
          <a:xfrm>
            <a:off x="5532120" y="4407408"/>
            <a:ext cx="612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60" b="1" kern="0" spc="70" dirty="0">
                <a:solidFill>
                  <a:srgbClr val="D78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Producto</a:t>
            </a:r>
            <a:endParaRPr lang="en-US" sz="760" dirty="0"/>
          </a:p>
        </p:txBody>
      </p:sp>
      <p:sp>
        <p:nvSpPr>
          <p:cNvPr id="25" name="Text 23"/>
          <p:cNvSpPr txBox="1"/>
          <p:nvPr/>
        </p:nvSpPr>
        <p:spPr>
          <a:xfrm>
            <a:off x="6163056" y="4370832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campaña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735824" y="1993392"/>
            <a:ext cx="3849624" cy="3291840"/>
          </a:xfrm>
          <a:prstGeom prst="roundRect">
            <a:avLst>
              <a:gd name="adj" fmla="val 2222"/>
            </a:avLst>
          </a:prstGeom>
          <a:solidFill>
            <a:srgbClr val="24313A"/>
          </a:solidFill>
          <a:ln w="10160">
            <a:solidFill>
              <a:srgbClr val="24313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19288" y="2267712"/>
            <a:ext cx="2523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05" dirty="0">
                <a:solidFill>
                  <a:srgbClr val="D1A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EVENTOS Y PRODUCCIÓN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010144" y="2770632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2E3C45"/>
          </a:solidFill>
          <a:ln w="10160">
            <a:solidFill>
              <a:srgbClr val="41515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10144" y="2770632"/>
            <a:ext cx="146304" cy="1005840"/>
          </a:xfrm>
          <a:prstGeom prst="rect">
            <a:avLst/>
          </a:prstGeom>
          <a:solidFill>
            <a:srgbClr val="2F708D"/>
          </a:solidFill>
          <a:ln w="12700">
            <a:solidFill>
              <a:srgbClr val="2F708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375904" y="29718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ICCM VENUE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8375904" y="330098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70" b="1" dirty="0">
                <a:solidFill>
                  <a:srgbClr val="C7CF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Espacio equipado</a:t>
            </a:r>
            <a:endParaRPr lang="en-US" sz="1070" dirty="0"/>
          </a:p>
        </p:txBody>
      </p:sp>
      <p:sp>
        <p:nvSpPr>
          <p:cNvPr id="32" name="Shape 30"/>
          <p:cNvSpPr/>
          <p:nvPr/>
        </p:nvSpPr>
        <p:spPr>
          <a:xfrm>
            <a:off x="8010144" y="4087368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2E3C45"/>
          </a:solidFill>
          <a:ln w="10160">
            <a:solidFill>
              <a:srgbClr val="41515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10144" y="4087368"/>
            <a:ext cx="146304" cy="1005840"/>
          </a:xfrm>
          <a:prstGeom prst="rect">
            <a:avLst/>
          </a:prstGeom>
          <a:solidFill>
            <a:srgbClr val="C74444"/>
          </a:solidFill>
          <a:ln w="12700">
            <a:solidFill>
              <a:srgbClr val="C7444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375904" y="428853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VISUAL777.PT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8375904" y="4617720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70" b="1" dirty="0">
                <a:solidFill>
                  <a:srgbClr val="C7CF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Producción técnica</a:t>
            </a:r>
            <a:endParaRPr lang="en-US" sz="1070" dirty="0"/>
          </a:p>
        </p:txBody>
      </p:sp>
      <p:sp>
        <p:nvSpPr>
          <p:cNvPr id="36" name="Shape 34"/>
          <p:cNvSpPr/>
          <p:nvPr/>
        </p:nvSpPr>
        <p:spPr>
          <a:xfrm>
            <a:off x="603504" y="5468112"/>
            <a:ext cx="10981944" cy="438912"/>
          </a:xfrm>
          <a:prstGeom prst="roundRect">
            <a:avLst>
              <a:gd name="adj" fmla="val 16667"/>
            </a:avLst>
          </a:prstGeom>
          <a:solidFill>
            <a:srgbClr val="24313A"/>
          </a:solidFill>
          <a:ln w="10160">
            <a:solidFill>
              <a:srgbClr val="24313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96112" y="5586984"/>
            <a:ext cx="10396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8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MOTOR COMÚN: contenido, diseño, datos, procesos, equipo y coordinación.</a:t>
            </a:r>
            <a:endParaRPr lang="en-US" sz="1180" dirty="0"/>
          </a:p>
        </p:txBody>
      </p:sp>
      <p:sp>
        <p:nvSpPr>
          <p:cNvPr id="38" name="Shape 36"/>
          <p:cNvSpPr/>
          <p:nvPr/>
        </p:nvSpPr>
        <p:spPr>
          <a:xfrm>
            <a:off x="594360" y="6519672"/>
            <a:ext cx="11000232" cy="0"/>
          </a:xfrm>
          <a:prstGeom prst="line">
            <a:avLst/>
          </a:prstGeom>
          <a:noFill/>
          <a:ln w="10160">
            <a:solidFill>
              <a:srgbClr val="D7D1C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03504" y="658368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kern="0" spc="9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PORTAFOLIO ESTRATÉGICO V1.0</a:t>
            </a:r>
            <a:endParaRPr lang="en-US" sz="750" dirty="0"/>
          </a:p>
        </p:txBody>
      </p:sp>
      <p:sp>
        <p:nvSpPr>
          <p:cNvPr id="40" name="Text 38"/>
          <p:cNvSpPr txBox="1"/>
          <p:nvPr/>
        </p:nvSpPr>
        <p:spPr>
          <a:xfrm>
            <a:off x="3886200" y="6583680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kern="0" spc="90" dirty="0">
                <a:solidFill>
                  <a:srgbClr val="D1A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VISIÓN GENERAL</a:t>
            </a:r>
            <a:endParaRPr lang="en-US" sz="750" dirty="0"/>
          </a:p>
        </p:txBody>
      </p:sp>
      <p:sp>
        <p:nvSpPr>
          <p:cNvPr id="41" name="Text 39"/>
          <p:cNvSpPr txBox="1"/>
          <p:nvPr/>
        </p:nvSpPr>
        <p:spPr>
          <a:xfrm>
            <a:off x="11119104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 name="Slide 6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38912"/>
            <a:ext cx="1060704" cy="329184"/>
          </a:xfrm>
          <a:prstGeom prst="roundRect">
            <a:avLst/>
          </a:prstGeom>
          <a:solidFill>
            <a:srgbClr val="D1A258"/>
          </a:solidFill>
          <a:ln w="7620">
            <a:solidFill>
              <a:srgbClr val="D1A25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13232" y="507492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11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LÍMITES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03504" y="877824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La separación protege la claridad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1563624"/>
            <a:ext cx="10652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Compartir recursos por detrás no significa mezclar promesas por delante.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3504" y="2039112"/>
            <a:ext cx="1874520" cy="493776"/>
          </a:xfrm>
          <a:prstGeom prst="rect">
            <a:avLst/>
          </a:prstGeom>
          <a:solidFill>
            <a:srgbClr val="24313A"/>
          </a:solidFill>
          <a:ln w="12700">
            <a:solidFill>
              <a:srgbClr val="2431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2203704"/>
            <a:ext cx="1655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80" b="1" kern="0" spc="6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MARCA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2478024" y="2039112"/>
            <a:ext cx="1993392" cy="493776"/>
          </a:xfrm>
          <a:prstGeom prst="rect">
            <a:avLst/>
          </a:prstGeom>
          <a:solidFill>
            <a:srgbClr val="24313A"/>
          </a:solidFill>
          <a:ln w="12700">
            <a:solidFill>
              <a:srgbClr val="2431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87752" y="2203704"/>
            <a:ext cx="17739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80" b="1" kern="0" spc="6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VENDE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4471416" y="2039112"/>
            <a:ext cx="2176272" cy="493776"/>
          </a:xfrm>
          <a:prstGeom prst="rect">
            <a:avLst/>
          </a:prstGeom>
          <a:solidFill>
            <a:srgbClr val="24313A"/>
          </a:solidFill>
          <a:ln w="12700">
            <a:solidFill>
              <a:srgbClr val="2431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81144" y="2203704"/>
            <a:ext cx="1956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80" b="1" kern="0" spc="6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TRABAJO DEL CLIENTE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6647688" y="2039112"/>
            <a:ext cx="2057400" cy="493776"/>
          </a:xfrm>
          <a:prstGeom prst="rect">
            <a:avLst/>
          </a:prstGeom>
          <a:solidFill>
            <a:srgbClr val="24313A"/>
          </a:solidFill>
          <a:ln w="12700">
            <a:solidFill>
              <a:srgbClr val="2431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57416" y="2203704"/>
            <a:ext cx="1837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80" b="1" kern="0" spc="6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CONVERSIÓN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8705088" y="2039112"/>
            <a:ext cx="2871216" cy="493776"/>
          </a:xfrm>
          <a:prstGeom prst="rect">
            <a:avLst/>
          </a:prstGeom>
          <a:solidFill>
            <a:srgbClr val="24313A"/>
          </a:solidFill>
          <a:ln w="12700">
            <a:solidFill>
              <a:srgbClr val="2431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814816" y="2203704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80" b="1" kern="0" spc="6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DEBE PARECER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603504" y="2532888"/>
            <a:ext cx="18745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" y="2532888"/>
            <a:ext cx="91440" cy="640080"/>
          </a:xfrm>
          <a:prstGeom prst="rect">
            <a:avLst/>
          </a:prstGeom>
          <a:solidFill>
            <a:srgbClr val="C56D4B"/>
          </a:solidFill>
          <a:ln w="12700">
            <a:solidFill>
              <a:srgbClr val="C56D4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4672" y="2679192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Allmoveis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478024" y="2532888"/>
            <a:ext cx="199339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587752" y="2679192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Mueble nuevo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471416" y="2532888"/>
            <a:ext cx="217627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81144" y="2679192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Compra planificada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6647688" y="2532888"/>
            <a:ext cx="20574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57416" y="2679192"/>
            <a:ext cx="1837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Compra / asesoramiento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8705088" y="2532888"/>
            <a:ext cx="2871216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814816" y="267919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Parecer outlet o tienda de usado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603504" y="3172968"/>
            <a:ext cx="1874520" cy="640080"/>
          </a:xfrm>
          <a:prstGeom prst="rect">
            <a:avLst/>
          </a:prstGeom>
          <a:solidFill>
            <a:srgbClr val="F0ECE6"/>
          </a:solidFill>
          <a:ln w="6350">
            <a:solidFill>
              <a:srgbClr val="DED8C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3504" y="3172968"/>
            <a:ext cx="91440" cy="640080"/>
          </a:xfrm>
          <a:prstGeom prst="rect">
            <a:avLst/>
          </a:prstGeom>
          <a:solidFill>
            <a:srgbClr val="7F8B58"/>
          </a:solidFill>
          <a:ln w="12700">
            <a:solidFill>
              <a:srgbClr val="7F8B5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4672" y="3319272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SecondChance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478024" y="3172968"/>
            <a:ext cx="1993392" cy="640080"/>
          </a:xfrm>
          <a:prstGeom prst="rect">
            <a:avLst/>
          </a:prstGeom>
          <a:solidFill>
            <a:srgbClr val="F0ECE6"/>
          </a:solidFill>
          <a:ln w="6350">
            <a:solidFill>
              <a:srgbClr val="DED8C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587752" y="3319272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Usado y hallazgos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4471416" y="3172968"/>
            <a:ext cx="2176272" cy="640080"/>
          </a:xfrm>
          <a:prstGeom prst="rect">
            <a:avLst/>
          </a:prstGeom>
          <a:solidFill>
            <a:srgbClr val="F0ECE6"/>
          </a:solidFill>
          <a:ln w="6350">
            <a:solidFill>
              <a:srgbClr val="DED8C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81144" y="3319272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Descubrimiento local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6647688" y="3172968"/>
            <a:ext cx="2057400" cy="640080"/>
          </a:xfrm>
          <a:prstGeom prst="rect">
            <a:avLst/>
          </a:prstGeom>
          <a:solidFill>
            <a:srgbClr val="F0ECE6"/>
          </a:solidFill>
          <a:ln w="6350">
            <a:solidFill>
              <a:srgbClr val="DED8C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757416" y="3319272"/>
            <a:ext cx="1837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Visita a tienda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8705088" y="3172968"/>
            <a:ext cx="2871216" cy="640080"/>
          </a:xfrm>
          <a:prstGeom prst="rect">
            <a:avLst/>
          </a:prstGeom>
          <a:solidFill>
            <a:srgbClr val="F0ECE6"/>
          </a:solidFill>
          <a:ln w="6350">
            <a:solidFill>
              <a:srgbClr val="DED8C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814816" y="331927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Parecer institucional o catálogo estable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603504" y="3813048"/>
            <a:ext cx="18745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" y="3813048"/>
            <a:ext cx="91440" cy="640080"/>
          </a:xfrm>
          <a:prstGeom prst="rect">
            <a:avLst/>
          </a:prstGeom>
          <a:solidFill>
            <a:srgbClr val="D78B2E"/>
          </a:solidFill>
          <a:ln w="12700">
            <a:solidFill>
              <a:srgbClr val="D78B2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04672" y="3959352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FlashStock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478024" y="3813048"/>
            <a:ext cx="199339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587752" y="3959352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Saldos seleccionados</a:t>
            </a:r>
            <a:endParaRPr lang="en-US" sz="980" dirty="0"/>
          </a:p>
        </p:txBody>
      </p:sp>
      <p:sp>
        <p:nvSpPr>
          <p:cNvPr id="43" name="Shape 41"/>
          <p:cNvSpPr/>
          <p:nvPr/>
        </p:nvSpPr>
        <p:spPr>
          <a:xfrm>
            <a:off x="4471416" y="3813048"/>
            <a:ext cx="217627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581144" y="3959352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Oportunidad limitada</a:t>
            </a:r>
            <a:endParaRPr lang="en-US" sz="980" dirty="0"/>
          </a:p>
        </p:txBody>
      </p:sp>
      <p:sp>
        <p:nvSpPr>
          <p:cNvPr id="45" name="Shape 43"/>
          <p:cNvSpPr/>
          <p:nvPr/>
        </p:nvSpPr>
        <p:spPr>
          <a:xfrm>
            <a:off x="6647688" y="3813048"/>
            <a:ext cx="20574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757416" y="3959352"/>
            <a:ext cx="1837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Alerta + campaña</a:t>
            </a:r>
            <a:endParaRPr lang="en-US" sz="980" dirty="0"/>
          </a:p>
        </p:txBody>
      </p:sp>
      <p:sp>
        <p:nvSpPr>
          <p:cNvPr id="47" name="Shape 45"/>
          <p:cNvSpPr/>
          <p:nvPr/>
        </p:nvSpPr>
        <p:spPr>
          <a:xfrm>
            <a:off x="8705088" y="3813048"/>
            <a:ext cx="2871216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814816" y="395935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Parecer caos o presión agresiva</a:t>
            </a:r>
            <a:endParaRPr lang="en-US" sz="980" dirty="0"/>
          </a:p>
        </p:txBody>
      </p:sp>
      <p:sp>
        <p:nvSpPr>
          <p:cNvPr id="49" name="Shape 47"/>
          <p:cNvSpPr/>
          <p:nvPr/>
        </p:nvSpPr>
        <p:spPr>
          <a:xfrm>
            <a:off x="603504" y="4453128"/>
            <a:ext cx="1874520" cy="640080"/>
          </a:xfrm>
          <a:prstGeom prst="rect">
            <a:avLst/>
          </a:prstGeom>
          <a:solidFill>
            <a:srgbClr val="F0ECE6"/>
          </a:solidFill>
          <a:ln w="6350">
            <a:solidFill>
              <a:srgbClr val="DED8C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03504" y="4453128"/>
            <a:ext cx="91440" cy="640080"/>
          </a:xfrm>
          <a:prstGeom prst="rect">
            <a:avLst/>
          </a:prstGeom>
          <a:solidFill>
            <a:srgbClr val="2F708D"/>
          </a:solidFill>
          <a:ln w="12700">
            <a:solidFill>
              <a:srgbClr val="2F708D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04672" y="4599432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ICCM Venue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478024" y="4453128"/>
            <a:ext cx="1993392" cy="640080"/>
          </a:xfrm>
          <a:prstGeom prst="rect">
            <a:avLst/>
          </a:prstGeom>
          <a:solidFill>
            <a:srgbClr val="F0ECE6"/>
          </a:solidFill>
          <a:ln w="6350">
            <a:solidFill>
              <a:srgbClr val="DED8C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2587752" y="4599432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Espacio y experiencia</a:t>
            </a:r>
            <a:endParaRPr lang="en-US" sz="980" dirty="0"/>
          </a:p>
        </p:txBody>
      </p:sp>
      <p:sp>
        <p:nvSpPr>
          <p:cNvPr id="54" name="Shape 52"/>
          <p:cNvSpPr/>
          <p:nvPr/>
        </p:nvSpPr>
        <p:spPr>
          <a:xfrm>
            <a:off x="4471416" y="4453128"/>
            <a:ext cx="2176272" cy="640080"/>
          </a:xfrm>
          <a:prstGeom prst="rect">
            <a:avLst/>
          </a:prstGeom>
          <a:solidFill>
            <a:srgbClr val="F0ECE6"/>
          </a:solidFill>
          <a:ln w="6350">
            <a:solidFill>
              <a:srgbClr val="DED8CF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4581144" y="4599432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Evento en un recinto</a:t>
            </a:r>
            <a:endParaRPr lang="en-US" sz="980" dirty="0"/>
          </a:p>
        </p:txBody>
      </p:sp>
      <p:sp>
        <p:nvSpPr>
          <p:cNvPr id="56" name="Shape 54"/>
          <p:cNvSpPr/>
          <p:nvPr/>
        </p:nvSpPr>
        <p:spPr>
          <a:xfrm>
            <a:off x="6647688" y="4453128"/>
            <a:ext cx="2057400" cy="640080"/>
          </a:xfrm>
          <a:prstGeom prst="rect">
            <a:avLst/>
          </a:prstGeom>
          <a:solidFill>
            <a:srgbClr val="F0ECE6"/>
          </a:solidFill>
          <a:ln w="6350">
            <a:solidFill>
              <a:srgbClr val="DED8CF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757416" y="4599432"/>
            <a:ext cx="1837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Visita + reserva</a:t>
            </a:r>
            <a:endParaRPr lang="en-US" sz="980" dirty="0"/>
          </a:p>
        </p:txBody>
      </p:sp>
      <p:sp>
        <p:nvSpPr>
          <p:cNvPr id="58" name="Shape 56"/>
          <p:cNvSpPr/>
          <p:nvPr/>
        </p:nvSpPr>
        <p:spPr>
          <a:xfrm>
            <a:off x="8705088" y="4453128"/>
            <a:ext cx="2871216" cy="640080"/>
          </a:xfrm>
          <a:prstGeom prst="rect">
            <a:avLst/>
          </a:prstGeom>
          <a:solidFill>
            <a:srgbClr val="F0ECE6"/>
          </a:solidFill>
          <a:ln w="6350">
            <a:solidFill>
              <a:srgbClr val="DED8C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8814816" y="459943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Vender producción externa como identidad principal</a:t>
            </a:r>
            <a:endParaRPr lang="en-US" sz="980" dirty="0"/>
          </a:p>
        </p:txBody>
      </p:sp>
      <p:sp>
        <p:nvSpPr>
          <p:cNvPr id="60" name="Shape 58"/>
          <p:cNvSpPr/>
          <p:nvPr/>
        </p:nvSpPr>
        <p:spPr>
          <a:xfrm>
            <a:off x="603504" y="5093208"/>
            <a:ext cx="18745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03504" y="5093208"/>
            <a:ext cx="91440" cy="640080"/>
          </a:xfrm>
          <a:prstGeom prst="rect">
            <a:avLst/>
          </a:prstGeom>
          <a:solidFill>
            <a:srgbClr val="C74444"/>
          </a:solidFill>
          <a:ln w="12700">
            <a:solidFill>
              <a:srgbClr val="C74444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04672" y="5239512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Visual777.pt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2478024" y="5093208"/>
            <a:ext cx="199339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F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2587752" y="5239512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Producción técnica</a:t>
            </a:r>
            <a:endParaRPr lang="en-US" sz="980" dirty="0"/>
          </a:p>
        </p:txBody>
      </p:sp>
      <p:sp>
        <p:nvSpPr>
          <p:cNvPr id="65" name="Shape 63"/>
          <p:cNvSpPr/>
          <p:nvPr/>
        </p:nvSpPr>
        <p:spPr>
          <a:xfrm>
            <a:off x="4471416" y="5093208"/>
            <a:ext cx="217627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F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4581144" y="5239512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Solución audiovisual</a:t>
            </a:r>
            <a:endParaRPr lang="en-US" sz="980" dirty="0"/>
          </a:p>
        </p:txBody>
      </p:sp>
      <p:sp>
        <p:nvSpPr>
          <p:cNvPr id="67" name="Shape 65"/>
          <p:cNvSpPr/>
          <p:nvPr/>
        </p:nvSpPr>
        <p:spPr>
          <a:xfrm>
            <a:off x="6647688" y="5093208"/>
            <a:ext cx="20574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F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6757416" y="5239512"/>
            <a:ext cx="1837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Briefing + presupuesto</a:t>
            </a:r>
            <a:endParaRPr lang="en-US" sz="980" dirty="0"/>
          </a:p>
        </p:txBody>
      </p:sp>
      <p:sp>
        <p:nvSpPr>
          <p:cNvPr id="69" name="Shape 67"/>
          <p:cNvSpPr/>
          <p:nvPr/>
        </p:nvSpPr>
        <p:spPr>
          <a:xfrm>
            <a:off x="8705088" y="5093208"/>
            <a:ext cx="2871216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ED8CF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8814816" y="523951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Parecer solo alquiler de equipos</a:t>
            </a:r>
            <a:endParaRPr lang="en-US" sz="980" dirty="0"/>
          </a:p>
        </p:txBody>
      </p:sp>
      <p:sp>
        <p:nvSpPr>
          <p:cNvPr id="71" name="Text 69"/>
          <p:cNvSpPr txBox="1"/>
          <p:nvPr/>
        </p:nvSpPr>
        <p:spPr>
          <a:xfrm>
            <a:off x="704088" y="5806440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4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Criterio de control: un cliente debe poder explicar la diferencia entre dos marcas en una frase.</a:t>
            </a:r>
            <a:endParaRPr lang="en-US" sz="1340" dirty="0"/>
          </a:p>
        </p:txBody>
      </p:sp>
      <p:sp>
        <p:nvSpPr>
          <p:cNvPr id="72" name="Shape 70"/>
          <p:cNvSpPr/>
          <p:nvPr/>
        </p:nvSpPr>
        <p:spPr>
          <a:xfrm>
            <a:off x="594360" y="6519672"/>
            <a:ext cx="11000232" cy="0"/>
          </a:xfrm>
          <a:prstGeom prst="line">
            <a:avLst/>
          </a:prstGeom>
          <a:noFill/>
          <a:ln w="10160">
            <a:solidFill>
              <a:srgbClr val="D7D1C8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603504" y="658368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kern="0" spc="9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PORTAFOLIO ESTRATÉGICO V1.0</a:t>
            </a:r>
            <a:endParaRPr lang="en-US" sz="750" dirty="0"/>
          </a:p>
        </p:txBody>
      </p:sp>
      <p:sp>
        <p:nvSpPr>
          <p:cNvPr id="74" name="Text 72"/>
          <p:cNvSpPr txBox="1"/>
          <p:nvPr/>
        </p:nvSpPr>
        <p:spPr>
          <a:xfrm>
            <a:off x="3886200" y="6583680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kern="0" spc="90" dirty="0">
                <a:solidFill>
                  <a:srgbClr val="D1A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VISIÓN GENERAL</a:t>
            </a:r>
            <a:endParaRPr lang="en-US" sz="750" dirty="0"/>
          </a:p>
        </p:txBody>
      </p:sp>
      <p:sp>
        <p:nvSpPr>
          <p:cNvPr id="75" name="Text 73"/>
          <p:cNvSpPr txBox="1"/>
          <p:nvPr/>
        </p:nvSpPr>
        <p:spPr>
          <a:xfrm>
            <a:off x="11119104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 name="Slide 7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38912"/>
            <a:ext cx="1371600" cy="329184"/>
          </a:xfrm>
          <a:prstGeom prst="roundRect">
            <a:avLst/>
          </a:prstGeom>
          <a:solidFill>
            <a:srgbClr val="D1A258"/>
          </a:solidFill>
          <a:ln w="7620">
            <a:solidFill>
              <a:srgbClr val="D1A25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13232" y="507492"/>
            <a:ext cx="1152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11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PRAGMATISMO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03504" y="877824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Principios de trabajo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1563624"/>
            <a:ext cx="10652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marca solo vale si mejora la comprensión, la operación y la venta.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3504" y="1984248"/>
            <a:ext cx="3493008" cy="160934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32104" y="2231136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D1A25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35608" y="2258568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10" b="1" kern="0" spc="35" dirty="0">
                <a:solidFill>
                  <a:srgbClr val="2431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MENOS RUIDO, MÁS PRUEBA</a:t>
            </a:r>
            <a:endParaRPr lang="en-US" sz="910" dirty="0"/>
          </a:p>
        </p:txBody>
      </p:sp>
      <p:sp>
        <p:nvSpPr>
          <p:cNvPr id="9" name="Text 7"/>
          <p:cNvSpPr txBox="1"/>
          <p:nvPr/>
        </p:nvSpPr>
        <p:spPr>
          <a:xfrm>
            <a:off x="832104" y="2752344"/>
            <a:ext cx="2999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8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Fotos reales, demostraciones, medidas, estados, condiciones y resultados.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370832" y="1984248"/>
            <a:ext cx="3493008" cy="160934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99432" y="2231136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D1A25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202936" y="2258568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10" b="1" kern="0" spc="35" dirty="0">
                <a:solidFill>
                  <a:srgbClr val="2431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PROMETER LO NO VALIDADO</a:t>
            </a:r>
            <a:endParaRPr lang="en-US" sz="91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2752344"/>
            <a:ext cx="2999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8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Aforo, stock, horarios, precios, garantías y capacidades deben tener dueño y fuente.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138160" y="1984248"/>
            <a:ext cx="3493008" cy="160934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66760" y="2231136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D1A25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970264" y="2258568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10" b="1" kern="0" spc="35" dirty="0">
                <a:solidFill>
                  <a:srgbClr val="2431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CONVERSIÓN PRINCIPAL</a:t>
            </a:r>
            <a:endParaRPr lang="en-US" sz="91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2752344"/>
            <a:ext cx="2999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8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marca necesita una acción dominante: comprar, visitar, registrarse, reservar o pedir presupuesto.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03504" y="3886200"/>
            <a:ext cx="3493008" cy="160934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" y="4133088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D1A25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435608" y="4160520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10" b="1" kern="0" spc="35" dirty="0">
                <a:solidFill>
                  <a:srgbClr val="2431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SISTEMA ANTES QUE CAMPAÑA</a:t>
            </a:r>
            <a:endParaRPr lang="en-US" sz="910" dirty="0"/>
          </a:p>
        </p:txBody>
      </p:sp>
      <p:sp>
        <p:nvSpPr>
          <p:cNvPr id="21" name="Text 19"/>
          <p:cNvSpPr txBox="1"/>
          <p:nvPr/>
        </p:nvSpPr>
        <p:spPr>
          <a:xfrm>
            <a:off x="832104" y="4654296"/>
            <a:ext cx="2999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8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Primero datos, procesos y seguimiento. Después tráfico y volumen.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4370832" y="3886200"/>
            <a:ext cx="3493008" cy="160934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99432" y="4133088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D1A25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5202936" y="4160520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10" b="1" kern="0" spc="35" dirty="0">
                <a:solidFill>
                  <a:srgbClr val="2431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PORTUGAL, NO TRADUCCIÓN LITERAL</a:t>
            </a:r>
            <a:endParaRPr lang="en-US" sz="910" dirty="0"/>
          </a:p>
        </p:txBody>
      </p:sp>
      <p:sp>
        <p:nvSpPr>
          <p:cNvPr id="25" name="Text 23"/>
          <p:cNvSpPr txBox="1"/>
          <p:nvPr/>
        </p:nvSpPr>
        <p:spPr>
          <a:xfrm>
            <a:off x="4599432" y="4654296"/>
            <a:ext cx="2999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8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Comunicación moderada, concreta y segura; urgencia basada en hechos.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8138160" y="3886200"/>
            <a:ext cx="3493008" cy="160934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66760" y="4133088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D1A25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06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8970264" y="4160520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10" b="1" kern="0" spc="35" dirty="0">
                <a:solidFill>
                  <a:srgbClr val="2431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FOCO ES SECUENCIA</a:t>
            </a:r>
            <a:endParaRPr lang="en-US" sz="910" dirty="0"/>
          </a:p>
        </p:txBody>
      </p:sp>
      <p:sp>
        <p:nvSpPr>
          <p:cNvPr id="29" name="Text 27"/>
          <p:cNvSpPr txBox="1"/>
          <p:nvPr/>
        </p:nvSpPr>
        <p:spPr>
          <a:xfrm>
            <a:off x="8366760" y="4654296"/>
            <a:ext cx="2999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8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cinco proyectos avanzan, pero no todos reciben la misma intensidad al mismo tiempo.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594360" y="6519672"/>
            <a:ext cx="11000232" cy="0"/>
          </a:xfrm>
          <a:prstGeom prst="line">
            <a:avLst/>
          </a:prstGeom>
          <a:noFill/>
          <a:ln w="10160">
            <a:solidFill>
              <a:srgbClr val="D7D1C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03504" y="658368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kern="0" spc="9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PORTAFOLIO ESTRATÉGICO V1.0</a:t>
            </a:r>
            <a:endParaRPr lang="en-US" sz="750" dirty="0"/>
          </a:p>
        </p:txBody>
      </p:sp>
      <p:sp>
        <p:nvSpPr>
          <p:cNvPr id="32" name="Text 30"/>
          <p:cNvSpPr txBox="1"/>
          <p:nvPr/>
        </p:nvSpPr>
        <p:spPr>
          <a:xfrm>
            <a:off x="3886200" y="6583680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kern="0" spc="90" dirty="0">
                <a:solidFill>
                  <a:srgbClr val="D1A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VISIÓN GENERAL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11119104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 name="Slide 8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38912"/>
            <a:ext cx="1664208" cy="329184"/>
          </a:xfrm>
          <a:prstGeom prst="roundRect">
            <a:avLst/>
          </a:prstGeom>
          <a:solidFill>
            <a:srgbClr val="C56D4B"/>
          </a:solidFill>
          <a:ln w="7620">
            <a:solidFill>
              <a:srgbClr val="C56D4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13232" y="507492"/>
            <a:ext cx="1444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11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MUEBLE NUEVO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03504" y="877824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Allmoveis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1563624"/>
            <a:ext cx="10652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experiencia portuguesa coherente para un catálogo amplio procedente de Allmobel, Remarstore y Feria de los Muebles.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3504" y="2029968"/>
            <a:ext cx="2926080" cy="1143000"/>
          </a:xfrm>
          <a:prstGeom prst="roundRect">
            <a:avLst>
              <a:gd name="adj" fmla="val 6400"/>
            </a:avLst>
          </a:prstGeom>
          <a:solidFill>
            <a:srgbClr val="C56D4B"/>
          </a:solidFill>
          <a:ln w="10160">
            <a:solidFill>
              <a:srgbClr val="C56D4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32104" y="225856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PAPEL EN EL PORTAFOLIO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832104" y="2532888"/>
            <a:ext cx="24688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Marca principal de mobiliario nuevo y hogar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03504" y="3364992"/>
            <a:ext cx="29260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" y="361188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kern="0" spc="100" dirty="0">
                <a:solidFill>
                  <a:srgbClr val="C56D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PUNTO DE PARTIDA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41248" y="4023360"/>
            <a:ext cx="82296" cy="82296"/>
          </a:xfrm>
          <a:prstGeom prst="ellipse">
            <a:avLst/>
          </a:prstGeom>
          <a:solidFill>
            <a:srgbClr val="C56D4B"/>
          </a:solidFill>
          <a:ln w="12700">
            <a:solidFill>
              <a:srgbClr val="C56D4B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3931920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3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Shopify y plantilla en desarrollo.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841248" y="4416552"/>
            <a:ext cx="82296" cy="82296"/>
          </a:xfrm>
          <a:prstGeom prst="ellipse">
            <a:avLst/>
          </a:prstGeom>
          <a:solidFill>
            <a:srgbClr val="C56D4B"/>
          </a:solidFill>
          <a:ln w="12700">
            <a:solidFill>
              <a:srgbClr val="C56D4B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5840" y="4325112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3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Catálogo y proveedores ya existen.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841248" y="4809744"/>
            <a:ext cx="82296" cy="82296"/>
          </a:xfrm>
          <a:prstGeom prst="ellipse">
            <a:avLst/>
          </a:prstGeom>
          <a:solidFill>
            <a:srgbClr val="C56D4B"/>
          </a:solidFill>
          <a:ln w="12700">
            <a:solidFill>
              <a:srgbClr val="C56D4B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4718304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3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Redes sociales y TikTok tienen trabajo previo.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841248" y="5202936"/>
            <a:ext cx="82296" cy="82296"/>
          </a:xfrm>
          <a:prstGeom prst="ellipse">
            <a:avLst/>
          </a:prstGeom>
          <a:solidFill>
            <a:srgbClr val="C56D4B"/>
          </a:solidFill>
          <a:ln w="12700">
            <a:solidFill>
              <a:srgbClr val="C56D4B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5111496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3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identidad comercial todavía no está consolidada.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3749040" y="2029968"/>
            <a:ext cx="3785616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05072" y="228600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kern="0" spc="100" dirty="0">
                <a:solidFill>
                  <a:srgbClr val="C56D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VISIÓN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4005072" y="2578608"/>
            <a:ext cx="32552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Ser una referencia portuguesa accesible para amueblar el hogar con variedad, claridad y acompañamiento.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744968" y="2029968"/>
            <a:ext cx="38404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01000" y="228600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kern="0" spc="100" dirty="0">
                <a:solidFill>
                  <a:srgbClr val="C56D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MISIÓN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8001000" y="2578608"/>
            <a:ext cx="3310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1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Unificar productos de distintos proveedores bajo una experiencia de compra propia, ordenada y fiable, desde la inspiración hasta la entrega.</a:t>
            </a:r>
            <a:endParaRPr lang="en-US" sz="1410" dirty="0"/>
          </a:p>
        </p:txBody>
      </p:sp>
      <p:sp>
        <p:nvSpPr>
          <p:cNvPr id="25" name="Shape 23"/>
          <p:cNvSpPr/>
          <p:nvPr/>
        </p:nvSpPr>
        <p:spPr>
          <a:xfrm>
            <a:off x="3749040" y="3858768"/>
            <a:ext cx="2395728" cy="1975104"/>
          </a:xfrm>
          <a:prstGeom prst="roundRect">
            <a:avLst>
              <a:gd name="adj" fmla="val 3704"/>
            </a:avLst>
          </a:prstGeom>
          <a:solidFill>
            <a:srgbClr val="FAF8F4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950208" y="4096512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0" b="1" kern="0" spc="90" dirty="0">
                <a:solidFill>
                  <a:srgbClr val="C56D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 PRINCIPAL</a:t>
            </a:r>
            <a:endParaRPr lang="en-US" sz="820" dirty="0"/>
          </a:p>
        </p:txBody>
      </p:sp>
      <p:sp>
        <p:nvSpPr>
          <p:cNvPr id="27" name="Text 25"/>
          <p:cNvSpPr txBox="1"/>
          <p:nvPr/>
        </p:nvSpPr>
        <p:spPr>
          <a:xfrm>
            <a:off x="3950208" y="4443984"/>
            <a:ext cx="199339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3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Hogares que buscan mobiliario nuevo, precio razonable y ayuda para decidir.</a:t>
            </a:r>
            <a:endParaRPr lang="en-US" sz="1230" dirty="0"/>
          </a:p>
        </p:txBody>
      </p:sp>
      <p:sp>
        <p:nvSpPr>
          <p:cNvPr id="28" name="Shape 26"/>
          <p:cNvSpPr/>
          <p:nvPr/>
        </p:nvSpPr>
        <p:spPr>
          <a:xfrm>
            <a:off x="6373368" y="3858768"/>
            <a:ext cx="2395728" cy="1975104"/>
          </a:xfrm>
          <a:prstGeom prst="roundRect">
            <a:avLst>
              <a:gd name="adj" fmla="val 3704"/>
            </a:avLst>
          </a:prstGeom>
          <a:solidFill>
            <a:srgbClr val="FAF8F4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74536" y="4096512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0" b="1" kern="0" spc="90" dirty="0">
                <a:solidFill>
                  <a:srgbClr val="C56D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PROMESA</a:t>
            </a:r>
            <a:endParaRPr lang="en-US" sz="820" dirty="0"/>
          </a:p>
        </p:txBody>
      </p:sp>
      <p:sp>
        <p:nvSpPr>
          <p:cNvPr id="30" name="Text 28"/>
          <p:cNvSpPr txBox="1"/>
          <p:nvPr/>
        </p:nvSpPr>
        <p:spPr>
          <a:xfrm>
            <a:off x="6574536" y="4443984"/>
            <a:ext cx="199339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30" b="1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Variedad real, información clara y una compra acompañada.</a:t>
            </a:r>
            <a:endParaRPr lang="en-US" sz="1230" dirty="0"/>
          </a:p>
        </p:txBody>
      </p:sp>
      <p:sp>
        <p:nvSpPr>
          <p:cNvPr id="31" name="Shape 29"/>
          <p:cNvSpPr/>
          <p:nvPr/>
        </p:nvSpPr>
        <p:spPr>
          <a:xfrm>
            <a:off x="8997696" y="3858768"/>
            <a:ext cx="2395728" cy="1975104"/>
          </a:xfrm>
          <a:prstGeom prst="roundRect">
            <a:avLst>
              <a:gd name="adj" fmla="val 3704"/>
            </a:avLst>
          </a:prstGeom>
          <a:solidFill>
            <a:srgbClr val="FAF8F4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98864" y="4096512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0" b="1" kern="0" spc="90" dirty="0">
                <a:solidFill>
                  <a:srgbClr val="C56D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CONVERSIÓN</a:t>
            </a:r>
            <a:endParaRPr lang="en-US" sz="820" dirty="0"/>
          </a:p>
        </p:txBody>
      </p:sp>
      <p:sp>
        <p:nvSpPr>
          <p:cNvPr id="33" name="Text 31"/>
          <p:cNvSpPr txBox="1"/>
          <p:nvPr/>
        </p:nvSpPr>
        <p:spPr>
          <a:xfrm>
            <a:off x="9198864" y="4443984"/>
            <a:ext cx="199339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3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Compra online, pedido de ayuda o visita a la tienda de nuevo.</a:t>
            </a:r>
            <a:endParaRPr lang="en-US" sz="1230" dirty="0"/>
          </a:p>
        </p:txBody>
      </p:sp>
      <p:sp>
        <p:nvSpPr>
          <p:cNvPr id="34" name="Shape 32"/>
          <p:cNvSpPr/>
          <p:nvPr/>
        </p:nvSpPr>
        <p:spPr>
          <a:xfrm>
            <a:off x="594360" y="6519672"/>
            <a:ext cx="11000232" cy="0"/>
          </a:xfrm>
          <a:prstGeom prst="line">
            <a:avLst/>
          </a:prstGeom>
          <a:noFill/>
          <a:ln w="10160">
            <a:solidFill>
              <a:srgbClr val="D7D1C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03504" y="658368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kern="0" spc="9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PORTAFOLIO ESTRATÉGICO V1.0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3886200" y="6583680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kern="0" spc="90" dirty="0">
                <a:solidFill>
                  <a:srgbClr val="C56D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ALLMOVEIS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11119104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 name="Slide 9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38912"/>
            <a:ext cx="1444752" cy="329184"/>
          </a:xfrm>
          <a:prstGeom prst="roundRect">
            <a:avLst/>
          </a:prstGeom>
          <a:solidFill>
            <a:srgbClr val="C56D4B"/>
          </a:solidFill>
          <a:ln w="7620">
            <a:solidFill>
              <a:srgbClr val="C56D4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13232" y="507492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11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DIAGNÓSTICO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03504" y="877824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DAFO - Allmoveis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1563624"/>
            <a:ext cx="10652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Lectura pragmática del punto cero. No es un veredicto: es una lista de hipótesis que deben validarse con operación y datos.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3504" y="2011680"/>
            <a:ext cx="5404104" cy="1938528"/>
          </a:xfrm>
          <a:prstGeom prst="roundRect">
            <a:avLst>
              <a:gd name="adj" fmla="val 3774"/>
            </a:avLst>
          </a:prstGeom>
          <a:solidFill>
            <a:srgbClr val="E8F0EA"/>
          </a:solidFill>
          <a:ln w="10160">
            <a:solidFill>
              <a:srgbClr val="E8F0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" y="2258568"/>
            <a:ext cx="438912" cy="438912"/>
          </a:xfrm>
          <a:prstGeom prst="ellipse">
            <a:avLst/>
          </a:prstGeom>
          <a:solidFill>
            <a:srgbClr val="50735F"/>
          </a:solidFill>
          <a:ln w="12700">
            <a:solidFill>
              <a:srgbClr val="5073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32104" y="232257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408176" y="23134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00" dirty="0">
                <a:solidFill>
                  <a:srgbClr val="5073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FORTALEZAS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05256" y="2816352"/>
            <a:ext cx="82296" cy="82296"/>
          </a:xfrm>
          <a:prstGeom prst="ellipse">
            <a:avLst/>
          </a:prstGeom>
          <a:solidFill>
            <a:srgbClr val="50735F"/>
          </a:solidFill>
          <a:ln w="12700">
            <a:solidFill>
              <a:srgbClr val="50735F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9848" y="2724912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Acceso a un catálogo amplio de tres fuentes.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905256" y="3072384"/>
            <a:ext cx="82296" cy="82296"/>
          </a:xfrm>
          <a:prstGeom prst="ellipse">
            <a:avLst/>
          </a:prstGeom>
          <a:solidFill>
            <a:srgbClr val="50735F"/>
          </a:solidFill>
          <a:ln w="12700">
            <a:solidFill>
              <a:srgbClr val="50735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69848" y="2980944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Shopify, contenido social y experiencia comercial ya disponibles.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905256" y="3328416"/>
            <a:ext cx="82296" cy="82296"/>
          </a:xfrm>
          <a:prstGeom prst="ellipse">
            <a:avLst/>
          </a:prstGeom>
          <a:solidFill>
            <a:srgbClr val="50735F"/>
          </a:solidFill>
          <a:ln w="12700">
            <a:solidFill>
              <a:srgbClr val="50735F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69848" y="3236976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Posibilidad de combinar canal online y futura tienda exclusiva.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905256" y="3584448"/>
            <a:ext cx="82296" cy="82296"/>
          </a:xfrm>
          <a:prstGeom prst="ellipse">
            <a:avLst/>
          </a:prstGeom>
          <a:solidFill>
            <a:srgbClr val="50735F"/>
          </a:solidFill>
          <a:ln w="12700">
            <a:solidFill>
              <a:srgbClr val="50735F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69848" y="3493008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Conocimiento práctico de producto, venta y operación.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6181344" y="2011680"/>
            <a:ext cx="5404104" cy="1938528"/>
          </a:xfrm>
          <a:prstGeom prst="roundRect">
            <a:avLst>
              <a:gd name="adj" fmla="val 3774"/>
            </a:avLst>
          </a:prstGeom>
          <a:solidFill>
            <a:srgbClr val="F4E8E4"/>
          </a:solidFill>
          <a:ln w="10160">
            <a:solidFill>
              <a:srgbClr val="F4E8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9944" y="2258568"/>
            <a:ext cx="438912" cy="438912"/>
          </a:xfrm>
          <a:prstGeom prst="ellipse">
            <a:avLst/>
          </a:prstGeom>
          <a:solidFill>
            <a:srgbClr val="B6534C"/>
          </a:solidFill>
          <a:ln w="12700">
            <a:solidFill>
              <a:srgbClr val="B6534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9944" y="232257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986016" y="23134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00" dirty="0">
                <a:solidFill>
                  <a:srgbClr val="B653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DEBILIDADES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83096" y="2816352"/>
            <a:ext cx="82296" cy="82296"/>
          </a:xfrm>
          <a:prstGeom prst="ellipse">
            <a:avLst/>
          </a:prstGeom>
          <a:solidFill>
            <a:srgbClr val="B6534C"/>
          </a:solidFill>
          <a:ln w="12700">
            <a:solidFill>
              <a:srgbClr val="B6534C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47688" y="2724912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Marca nueva sin reputación ni datos propios de conversión.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6483096" y="3072384"/>
            <a:ext cx="82296" cy="82296"/>
          </a:xfrm>
          <a:prstGeom prst="ellipse">
            <a:avLst/>
          </a:prstGeom>
          <a:solidFill>
            <a:srgbClr val="B6534C"/>
          </a:solidFill>
          <a:ln w="12700">
            <a:solidFill>
              <a:srgbClr val="B6534C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47688" y="2980944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Datos, nombres, fotos y condiciones pueden variar por proveedor.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6483096" y="3328416"/>
            <a:ext cx="82296" cy="82296"/>
          </a:xfrm>
          <a:prstGeom prst="ellipse">
            <a:avLst/>
          </a:prstGeom>
          <a:solidFill>
            <a:srgbClr val="B6534C"/>
          </a:solidFill>
          <a:ln w="12700">
            <a:solidFill>
              <a:srgbClr val="B6534C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47688" y="3236976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Complejidad de stock, plazos, entregas, devoluciones y duplicados.</a:t>
            </a:r>
            <a:endParaRPr lang="en-US" sz="1060" dirty="0"/>
          </a:p>
        </p:txBody>
      </p:sp>
      <p:sp>
        <p:nvSpPr>
          <p:cNvPr id="28" name="Shape 26"/>
          <p:cNvSpPr/>
          <p:nvPr/>
        </p:nvSpPr>
        <p:spPr>
          <a:xfrm>
            <a:off x="6483096" y="3584448"/>
            <a:ext cx="82296" cy="82296"/>
          </a:xfrm>
          <a:prstGeom prst="ellipse">
            <a:avLst/>
          </a:prstGeom>
          <a:solidFill>
            <a:srgbClr val="B6534C"/>
          </a:solidFill>
          <a:ln w="12700">
            <a:solidFill>
              <a:srgbClr val="B6534C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47688" y="3493008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Riesgo de parecer un agregador sin personalidad.</a:t>
            </a:r>
            <a:endParaRPr lang="en-US" sz="1060" dirty="0"/>
          </a:p>
        </p:txBody>
      </p:sp>
      <p:sp>
        <p:nvSpPr>
          <p:cNvPr id="30" name="Shape 28"/>
          <p:cNvSpPr/>
          <p:nvPr/>
        </p:nvSpPr>
        <p:spPr>
          <a:xfrm>
            <a:off x="603504" y="4178808"/>
            <a:ext cx="5404104" cy="1938528"/>
          </a:xfrm>
          <a:prstGeom prst="roundRect">
            <a:avLst>
              <a:gd name="adj" fmla="val 3774"/>
            </a:avLst>
          </a:prstGeom>
          <a:solidFill>
            <a:srgbClr val="E7EEF1"/>
          </a:solidFill>
          <a:ln w="10160">
            <a:solidFill>
              <a:srgbClr val="E7EEF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2104" y="4425696"/>
            <a:ext cx="438912" cy="438912"/>
          </a:xfrm>
          <a:prstGeom prst="ellipse">
            <a:avLst/>
          </a:prstGeom>
          <a:solidFill>
            <a:srgbClr val="3C7088"/>
          </a:solidFill>
          <a:ln w="12700">
            <a:solidFill>
              <a:srgbClr val="3C708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32104" y="448970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408176" y="44805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00" dirty="0">
                <a:solidFill>
                  <a:srgbClr val="3C70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OPORTUNIDADES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05256" y="4983480"/>
            <a:ext cx="82296" cy="82296"/>
          </a:xfrm>
          <a:prstGeom prst="ellipse">
            <a:avLst/>
          </a:prstGeom>
          <a:solidFill>
            <a:srgbClr val="3C7088"/>
          </a:solidFill>
          <a:ln w="12700">
            <a:solidFill>
              <a:srgbClr val="3C7088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69848" y="4892040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Crear una experiencia mejor organizada que las tiendas de origen.</a:t>
            </a:r>
            <a:endParaRPr lang="en-US" sz="1060" dirty="0"/>
          </a:p>
        </p:txBody>
      </p:sp>
      <p:sp>
        <p:nvSpPr>
          <p:cNvPr id="36" name="Shape 34"/>
          <p:cNvSpPr/>
          <p:nvPr/>
        </p:nvSpPr>
        <p:spPr>
          <a:xfrm>
            <a:off x="905256" y="5239512"/>
            <a:ext cx="82296" cy="82296"/>
          </a:xfrm>
          <a:prstGeom prst="ellipse">
            <a:avLst/>
          </a:prstGeom>
          <a:solidFill>
            <a:srgbClr val="3C7088"/>
          </a:solidFill>
          <a:ln w="12700">
            <a:solidFill>
              <a:srgbClr val="3C7088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69848" y="5148072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Vídeo útil: medidas, montaje, ambientes y comparaciones.</a:t>
            </a:r>
            <a:endParaRPr lang="en-US" sz="1060" dirty="0"/>
          </a:p>
        </p:txBody>
      </p:sp>
      <p:sp>
        <p:nvSpPr>
          <p:cNvPr id="38" name="Shape 36"/>
          <p:cNvSpPr/>
          <p:nvPr/>
        </p:nvSpPr>
        <p:spPr>
          <a:xfrm>
            <a:off x="905256" y="5495544"/>
            <a:ext cx="82296" cy="82296"/>
          </a:xfrm>
          <a:prstGeom prst="ellipse">
            <a:avLst/>
          </a:prstGeom>
          <a:solidFill>
            <a:srgbClr val="3C7088"/>
          </a:solidFill>
          <a:ln w="12700">
            <a:solidFill>
              <a:srgbClr val="3C7088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69848" y="5404104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Packs por estancia y asesoramiento por WhatsApp.</a:t>
            </a:r>
            <a:endParaRPr lang="en-US" sz="1060" dirty="0"/>
          </a:p>
        </p:txBody>
      </p:sp>
      <p:sp>
        <p:nvSpPr>
          <p:cNvPr id="40" name="Shape 38"/>
          <p:cNvSpPr/>
          <p:nvPr/>
        </p:nvSpPr>
        <p:spPr>
          <a:xfrm>
            <a:off x="905256" y="5751576"/>
            <a:ext cx="82296" cy="82296"/>
          </a:xfrm>
          <a:prstGeom prst="ellipse">
            <a:avLst/>
          </a:prstGeom>
          <a:solidFill>
            <a:srgbClr val="3C7088"/>
          </a:solidFill>
          <a:ln w="12700">
            <a:solidFill>
              <a:srgbClr val="3C7088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69848" y="5660136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Separar con claridad el producto nuevo del usado.</a:t>
            </a:r>
            <a:endParaRPr lang="en-US" sz="1060" dirty="0"/>
          </a:p>
        </p:txBody>
      </p:sp>
      <p:sp>
        <p:nvSpPr>
          <p:cNvPr id="42" name="Shape 40"/>
          <p:cNvSpPr/>
          <p:nvPr/>
        </p:nvSpPr>
        <p:spPr>
          <a:xfrm>
            <a:off x="6181344" y="4178808"/>
            <a:ext cx="5404104" cy="1938528"/>
          </a:xfrm>
          <a:prstGeom prst="roundRect">
            <a:avLst>
              <a:gd name="adj" fmla="val 3774"/>
            </a:avLst>
          </a:prstGeom>
          <a:solidFill>
            <a:srgbClr val="F3EEE1"/>
          </a:solidFill>
          <a:ln w="10160">
            <a:solidFill>
              <a:srgbClr val="F3EE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09944" y="4425696"/>
            <a:ext cx="438912" cy="438912"/>
          </a:xfrm>
          <a:prstGeom prst="ellipse">
            <a:avLst/>
          </a:prstGeom>
          <a:solidFill>
            <a:srgbClr val="D1A258"/>
          </a:solidFill>
          <a:ln w="12700">
            <a:solidFill>
              <a:srgbClr val="D1A25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409944" y="448970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986016" y="44805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00" dirty="0">
                <a:solidFill>
                  <a:srgbClr val="D1A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AMENAZAS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483096" y="4983480"/>
            <a:ext cx="82296" cy="82296"/>
          </a:xfrm>
          <a:prstGeom prst="ellipse">
            <a:avLst/>
          </a:prstGeom>
          <a:solidFill>
            <a:srgbClr val="D1A258"/>
          </a:solidFill>
          <a:ln w="12700">
            <a:solidFill>
              <a:srgbClr val="D1A258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647688" y="4892040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Competencia intensa en precio y publicidad.</a:t>
            </a:r>
            <a:endParaRPr lang="en-US" sz="1060" dirty="0"/>
          </a:p>
        </p:txBody>
      </p:sp>
      <p:sp>
        <p:nvSpPr>
          <p:cNvPr id="48" name="Shape 46"/>
          <p:cNvSpPr/>
          <p:nvPr/>
        </p:nvSpPr>
        <p:spPr>
          <a:xfrm>
            <a:off x="6483096" y="5239512"/>
            <a:ext cx="82296" cy="82296"/>
          </a:xfrm>
          <a:prstGeom prst="ellipse">
            <a:avLst/>
          </a:prstGeom>
          <a:solidFill>
            <a:srgbClr val="D1A258"/>
          </a:solidFill>
          <a:ln w="12700">
            <a:solidFill>
              <a:srgbClr val="D1A258">
                <a:alpha val="0"/>
              </a:srgbClr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647688" y="5148072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Incidencias logísticas que dañen la confianza de marca.</a:t>
            </a:r>
            <a:endParaRPr lang="en-US" sz="1060" dirty="0"/>
          </a:p>
        </p:txBody>
      </p:sp>
      <p:sp>
        <p:nvSpPr>
          <p:cNvPr id="50" name="Shape 48"/>
          <p:cNvSpPr/>
          <p:nvPr/>
        </p:nvSpPr>
        <p:spPr>
          <a:xfrm>
            <a:off x="6483096" y="5495544"/>
            <a:ext cx="82296" cy="82296"/>
          </a:xfrm>
          <a:prstGeom prst="ellipse">
            <a:avLst/>
          </a:prstGeom>
          <a:solidFill>
            <a:srgbClr val="D1A258"/>
          </a:solidFill>
          <a:ln w="12700">
            <a:solidFill>
              <a:srgbClr val="D1A258">
                <a:alpha val="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647688" y="5404104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Márgenes erosionados por promociones o costes de entrega.</a:t>
            </a:r>
            <a:endParaRPr lang="en-US" sz="1060" dirty="0"/>
          </a:p>
        </p:txBody>
      </p:sp>
      <p:sp>
        <p:nvSpPr>
          <p:cNvPr id="52" name="Shape 50"/>
          <p:cNvSpPr/>
          <p:nvPr/>
        </p:nvSpPr>
        <p:spPr>
          <a:xfrm>
            <a:off x="6483096" y="5751576"/>
            <a:ext cx="82296" cy="82296"/>
          </a:xfrm>
          <a:prstGeom prst="ellipse">
            <a:avLst/>
          </a:prstGeom>
          <a:solidFill>
            <a:srgbClr val="D1A258"/>
          </a:solidFill>
          <a:ln w="12700">
            <a:solidFill>
              <a:srgbClr val="D1A258">
                <a:alpha val="0"/>
              </a:srgbClr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647688" y="5660136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Publicar stock o plazos que no estén sincronizados.</a:t>
            </a:r>
            <a:endParaRPr lang="en-US" sz="1060" dirty="0"/>
          </a:p>
        </p:txBody>
      </p:sp>
      <p:sp>
        <p:nvSpPr>
          <p:cNvPr id="54" name="Shape 52"/>
          <p:cNvSpPr/>
          <p:nvPr/>
        </p:nvSpPr>
        <p:spPr>
          <a:xfrm>
            <a:off x="594360" y="6519672"/>
            <a:ext cx="11000232" cy="0"/>
          </a:xfrm>
          <a:prstGeom prst="line">
            <a:avLst/>
          </a:prstGeom>
          <a:noFill/>
          <a:ln w="10160">
            <a:solidFill>
              <a:srgbClr val="D7D1C8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03504" y="658368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kern="0" spc="9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PORTAFOLIO ESTRATÉGICO V1.0</a:t>
            </a:r>
            <a:endParaRPr lang="en-US" sz="750" dirty="0"/>
          </a:p>
        </p:txBody>
      </p:sp>
      <p:sp>
        <p:nvSpPr>
          <p:cNvPr id="56" name="Text 54"/>
          <p:cNvSpPr txBox="1"/>
          <p:nvPr/>
        </p:nvSpPr>
        <p:spPr>
          <a:xfrm>
            <a:off x="3886200" y="6583680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kern="0" spc="90" dirty="0">
                <a:solidFill>
                  <a:srgbClr val="C56D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ALLMOVEIS</a:t>
            </a:r>
            <a:endParaRPr lang="en-US" sz="750" dirty="0"/>
          </a:p>
        </p:txBody>
      </p:sp>
      <p:sp>
        <p:nvSpPr>
          <p:cNvPr id="57" name="Text 55"/>
          <p:cNvSpPr txBox="1"/>
          <p:nvPr/>
        </p:nvSpPr>
        <p:spPr>
          <a:xfrm>
            <a:off x="11119104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 name="Slide 10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38912"/>
            <a:ext cx="1316736" cy="329184"/>
          </a:xfrm>
          <a:prstGeom prst="roundRect">
            <a:avLst/>
          </a:prstGeom>
          <a:solidFill>
            <a:srgbClr val="C56D4B"/>
          </a:solidFill>
          <a:ln w="7620">
            <a:solidFill>
              <a:srgbClr val="C56D4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13232" y="5074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11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EJECUCIÓN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03504" y="877824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Prioridades V1.0 - Allmoveis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1563624"/>
            <a:ext cx="10652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Lanzar una tienda que parezca una marca única, no tres catálogos unidos.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3504" y="2029968"/>
            <a:ext cx="3493008" cy="2980944"/>
          </a:xfrm>
          <a:prstGeom prst="roundRect">
            <a:avLst>
              <a:gd name="adj" fmla="val 2454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2860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C56D4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3317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2431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0-30 DÍAS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77824" y="2962656"/>
            <a:ext cx="82296" cy="82296"/>
          </a:xfrm>
          <a:prstGeom prst="ellipse">
            <a:avLst/>
          </a:prstGeom>
          <a:solidFill>
            <a:srgbClr val="C56D4B"/>
          </a:solidFill>
          <a:ln w="12700">
            <a:solidFill>
              <a:srgbClr val="C56D4B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42416" y="2871216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Cerrar propuesta de valor, tono y sistema visual.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877824" y="3529584"/>
            <a:ext cx="82296" cy="82296"/>
          </a:xfrm>
          <a:prstGeom prst="ellipse">
            <a:avLst/>
          </a:prstGeom>
          <a:solidFill>
            <a:srgbClr val="C56D4B"/>
          </a:solidFill>
          <a:ln w="12700">
            <a:solidFill>
              <a:srgbClr val="C56D4B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42416" y="3438144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Definir taxonomía, campos y reglas de producto.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877824" y="4096512"/>
            <a:ext cx="82296" cy="82296"/>
          </a:xfrm>
          <a:prstGeom prst="ellipse">
            <a:avLst/>
          </a:prstGeom>
          <a:solidFill>
            <a:srgbClr val="C56D4B"/>
          </a:solidFill>
          <a:ln w="12700">
            <a:solidFill>
              <a:srgbClr val="C56D4B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42416" y="4005072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Mapear stock, plazos, entrega y política comercial.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4370832" y="2029968"/>
            <a:ext cx="3493008" cy="2980944"/>
          </a:xfrm>
          <a:prstGeom prst="roundRect">
            <a:avLst>
              <a:gd name="adj" fmla="val 2454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08576" y="22860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C56D4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5276088" y="23317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2431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31-60 DÍAS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45152" y="2962656"/>
            <a:ext cx="82296" cy="82296"/>
          </a:xfrm>
          <a:prstGeom prst="ellipse">
            <a:avLst/>
          </a:prstGeom>
          <a:solidFill>
            <a:srgbClr val="C56D4B"/>
          </a:solidFill>
          <a:ln w="12700">
            <a:solidFill>
              <a:srgbClr val="C56D4B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09744" y="2871216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Terminar home, colecciones y ficha de producto.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4645152" y="3529584"/>
            <a:ext cx="82296" cy="82296"/>
          </a:xfrm>
          <a:prstGeom prst="ellipse">
            <a:avLst/>
          </a:prstGeom>
          <a:solidFill>
            <a:srgbClr val="C56D4B"/>
          </a:solidFill>
          <a:ln w="12700">
            <a:solidFill>
              <a:srgbClr val="C56D4B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09744" y="3438144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Normalizar primeros productos y eliminar duplicados.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4645152" y="4096512"/>
            <a:ext cx="82296" cy="82296"/>
          </a:xfrm>
          <a:prstGeom prst="ellipse">
            <a:avLst/>
          </a:prstGeom>
          <a:solidFill>
            <a:srgbClr val="C56D4B"/>
          </a:solidFill>
          <a:ln w="12700">
            <a:solidFill>
              <a:srgbClr val="C56D4B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09744" y="4005072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Conectar contenido social con páginas y campañas.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8138160" y="2029968"/>
            <a:ext cx="3493008" cy="2980944"/>
          </a:xfrm>
          <a:prstGeom prst="roundRect">
            <a:avLst>
              <a:gd name="adj" fmla="val 2454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75904" y="22860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C56D4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03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9043416" y="23317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2431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61-90 DÍAS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412480" y="2962656"/>
            <a:ext cx="82296" cy="82296"/>
          </a:xfrm>
          <a:prstGeom prst="ellipse">
            <a:avLst/>
          </a:prstGeom>
          <a:solidFill>
            <a:srgbClr val="C56D4B"/>
          </a:solidFill>
          <a:ln w="12700">
            <a:solidFill>
              <a:srgbClr val="C56D4B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577072" y="2871216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QA completo de compra, móvil, pagos y logística.</a:t>
            </a:r>
            <a:endParaRPr lang="en-US" sz="1180" dirty="0"/>
          </a:p>
        </p:txBody>
      </p:sp>
      <p:sp>
        <p:nvSpPr>
          <p:cNvPr id="29" name="Shape 27"/>
          <p:cNvSpPr/>
          <p:nvPr/>
        </p:nvSpPr>
        <p:spPr>
          <a:xfrm>
            <a:off x="8412480" y="3529584"/>
            <a:ext cx="82296" cy="82296"/>
          </a:xfrm>
          <a:prstGeom prst="ellipse">
            <a:avLst/>
          </a:prstGeom>
          <a:solidFill>
            <a:srgbClr val="C56D4B"/>
          </a:solidFill>
          <a:ln w="12700">
            <a:solidFill>
              <a:srgbClr val="C56D4B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577072" y="3438144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Lanzamiento controlado y medición inicial.</a:t>
            </a:r>
            <a:endParaRPr lang="en-US" sz="1180" dirty="0"/>
          </a:p>
        </p:txBody>
      </p:sp>
      <p:sp>
        <p:nvSpPr>
          <p:cNvPr id="31" name="Shape 29"/>
          <p:cNvSpPr/>
          <p:nvPr/>
        </p:nvSpPr>
        <p:spPr>
          <a:xfrm>
            <a:off x="8412480" y="4096512"/>
            <a:ext cx="82296" cy="82296"/>
          </a:xfrm>
          <a:prstGeom prst="ellipse">
            <a:avLst/>
          </a:prstGeom>
          <a:solidFill>
            <a:srgbClr val="C56D4B"/>
          </a:solidFill>
          <a:ln w="12700">
            <a:solidFill>
              <a:srgbClr val="C56D4B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577072" y="4005072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Corregir fricciones antes de invertir fuerte en tráfico.</a:t>
            </a:r>
            <a:endParaRPr lang="en-US" sz="1180" dirty="0"/>
          </a:p>
        </p:txBody>
      </p:sp>
      <p:sp>
        <p:nvSpPr>
          <p:cNvPr id="33" name="Shape 31"/>
          <p:cNvSpPr/>
          <p:nvPr/>
        </p:nvSpPr>
        <p:spPr>
          <a:xfrm>
            <a:off x="603504" y="5266944"/>
            <a:ext cx="10981944" cy="658368"/>
          </a:xfrm>
          <a:prstGeom prst="roundRect">
            <a:avLst>
              <a:gd name="adj" fmla="val 11111"/>
            </a:avLst>
          </a:prstGeom>
          <a:solidFill>
            <a:srgbClr val="C56D4B"/>
          </a:solidFill>
          <a:ln w="10160">
            <a:solidFill>
              <a:srgbClr val="C56D4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41248" y="5458968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kern="0" spc="9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 A 12 MESES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2496312" y="5385816"/>
            <a:ext cx="4709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Una tienda reconocible, comprable y operativamente fiable.</a:t>
            </a:r>
            <a:endParaRPr lang="en-US" sz="1450" dirty="0"/>
          </a:p>
        </p:txBody>
      </p:sp>
      <p:sp>
        <p:nvSpPr>
          <p:cNvPr id="36" name="Text 34"/>
          <p:cNvSpPr txBox="1"/>
          <p:nvPr/>
        </p:nvSpPr>
        <p:spPr>
          <a:xfrm>
            <a:off x="7488936" y="545896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kern="0" spc="9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EVIDENCIA MÍNIMA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8833104" y="5367528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Catálogo limpio, pedidos reales, margen y entrega medidos.</a:t>
            </a:r>
            <a:endParaRPr lang="en-US" sz="1130" dirty="0"/>
          </a:p>
        </p:txBody>
      </p:sp>
      <p:sp>
        <p:nvSpPr>
          <p:cNvPr id="38" name="Shape 36"/>
          <p:cNvSpPr/>
          <p:nvPr/>
        </p:nvSpPr>
        <p:spPr>
          <a:xfrm>
            <a:off x="594360" y="6519672"/>
            <a:ext cx="11000232" cy="0"/>
          </a:xfrm>
          <a:prstGeom prst="line">
            <a:avLst/>
          </a:prstGeom>
          <a:noFill/>
          <a:ln w="10160">
            <a:solidFill>
              <a:srgbClr val="D7D1C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03504" y="658368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kern="0" spc="9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PORTAFOLIO ESTRATÉGICO V1.0</a:t>
            </a:r>
            <a:endParaRPr lang="en-US" sz="750" dirty="0"/>
          </a:p>
        </p:txBody>
      </p:sp>
      <p:sp>
        <p:nvSpPr>
          <p:cNvPr id="40" name="Text 38"/>
          <p:cNvSpPr txBox="1"/>
          <p:nvPr/>
        </p:nvSpPr>
        <p:spPr>
          <a:xfrm>
            <a:off x="3886200" y="6583680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kern="0" spc="90" dirty="0">
                <a:solidFill>
                  <a:srgbClr val="C56D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ALLMOVEIS</a:t>
            </a:r>
            <a:endParaRPr lang="en-US" sz="750" dirty="0"/>
          </a:p>
        </p:txBody>
      </p:sp>
      <p:sp>
        <p:nvSpPr>
          <p:cNvPr id="41" name="Text 39"/>
          <p:cNvSpPr txBox="1"/>
          <p:nvPr/>
        </p:nvSpPr>
        <p:spPr>
          <a:xfrm>
            <a:off x="11119104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 name="Slide 11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38912"/>
            <a:ext cx="2176272" cy="329184"/>
          </a:xfrm>
          <a:prstGeom prst="roundRect">
            <a:avLst/>
          </a:prstGeom>
          <a:solidFill>
            <a:srgbClr val="7F8B58"/>
          </a:solidFill>
          <a:ln w="7620">
            <a:solidFill>
              <a:srgbClr val="7F8B5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13232" y="507492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11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USADO Y DESCUBRIMIENTO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03504" y="877824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SecondChance.pt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1563624"/>
            <a:ext cx="10652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Marca de apoyo independiente para potenciar las tiendas físicas mediante una experiencia humana, vintage y de oportunidades.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3504" y="2029968"/>
            <a:ext cx="2926080" cy="1143000"/>
          </a:xfrm>
          <a:prstGeom prst="roundRect">
            <a:avLst>
              <a:gd name="adj" fmla="val 6400"/>
            </a:avLst>
          </a:prstGeom>
          <a:solidFill>
            <a:srgbClr val="7F8B58"/>
          </a:solidFill>
          <a:ln w="10160">
            <a:solidFill>
              <a:srgbClr val="7F8B5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32104" y="225856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PAPEL EN EL PORTAFOLIO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832104" y="2532888"/>
            <a:ext cx="24688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Generar visitas a tiendas físicas de segunda mano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03504" y="3364992"/>
            <a:ext cx="29260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" y="361188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kern="0" spc="100" dirty="0">
                <a:solidFill>
                  <a:srgbClr val="7F8B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PUNTO DE PARTIDA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41248" y="4023360"/>
            <a:ext cx="82296" cy="82296"/>
          </a:xfrm>
          <a:prstGeom prst="ellipse">
            <a:avLst/>
          </a:prstGeom>
          <a:solidFill>
            <a:srgbClr val="7F8B58"/>
          </a:solidFill>
          <a:ln w="12700">
            <a:solidFill>
              <a:srgbClr val="7F8B58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3931920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3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tiendas y el inventario rotativo ya existen.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841248" y="4416552"/>
            <a:ext cx="82296" cy="82296"/>
          </a:xfrm>
          <a:prstGeom prst="ellipse">
            <a:avLst/>
          </a:prstGeom>
          <a:solidFill>
            <a:srgbClr val="7F8B58"/>
          </a:solidFill>
          <a:ln w="12700">
            <a:solidFill>
              <a:srgbClr val="7F8B58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5840" y="4325112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3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Actualmente conviven artículos nuevos y usados.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841248" y="4809744"/>
            <a:ext cx="82296" cy="82296"/>
          </a:xfrm>
          <a:prstGeom prst="ellipse">
            <a:avLst/>
          </a:prstGeom>
          <a:solidFill>
            <a:srgbClr val="7F8B58"/>
          </a:solidFill>
          <a:ln w="12700">
            <a:solidFill>
              <a:srgbClr val="7F8B58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4718304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3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prototipo web contiene textos y afirmaciones no validadas.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841248" y="5202936"/>
            <a:ext cx="82296" cy="82296"/>
          </a:xfrm>
          <a:prstGeom prst="ellipse">
            <a:avLst/>
          </a:prstGeom>
          <a:solidFill>
            <a:srgbClr val="7F8B58"/>
          </a:solidFill>
          <a:ln w="12700">
            <a:solidFill>
              <a:srgbClr val="7F8B58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5111496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3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marca de cara al público parte prácticamente de cero.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3749040" y="2029968"/>
            <a:ext cx="3785616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05072" y="228600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kern="0" spc="100" dirty="0">
                <a:solidFill>
                  <a:srgbClr val="7F8B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VISIÓN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4005072" y="2578608"/>
            <a:ext cx="32552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Ser la marca local que la gente recuerda cuando quiere descubrir piezas con carácter y precio accesible.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744968" y="2029968"/>
            <a:ext cx="38404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01000" y="228600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kern="0" spc="100" dirty="0">
                <a:solidFill>
                  <a:srgbClr val="7F8B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MISIÓN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8001000" y="2578608"/>
            <a:ext cx="3310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1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 visibilidad al inventario usado y de oportunidad de las tiendas físicas con una identidad cercana, ligera y no institucional.</a:t>
            </a:r>
            <a:endParaRPr lang="en-US" sz="1410" dirty="0"/>
          </a:p>
        </p:txBody>
      </p:sp>
      <p:sp>
        <p:nvSpPr>
          <p:cNvPr id="25" name="Shape 23"/>
          <p:cNvSpPr/>
          <p:nvPr/>
        </p:nvSpPr>
        <p:spPr>
          <a:xfrm>
            <a:off x="3749040" y="3858768"/>
            <a:ext cx="2395728" cy="1975104"/>
          </a:xfrm>
          <a:prstGeom prst="roundRect">
            <a:avLst>
              <a:gd name="adj" fmla="val 3704"/>
            </a:avLst>
          </a:prstGeom>
          <a:solidFill>
            <a:srgbClr val="FAF8F4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950208" y="4096512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0" b="1" kern="0" spc="90" dirty="0">
                <a:solidFill>
                  <a:srgbClr val="7F8B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 PRINCIPAL</a:t>
            </a:r>
            <a:endParaRPr lang="en-US" sz="820" dirty="0"/>
          </a:p>
        </p:txBody>
      </p:sp>
      <p:sp>
        <p:nvSpPr>
          <p:cNvPr id="27" name="Text 25"/>
          <p:cNvSpPr txBox="1"/>
          <p:nvPr/>
        </p:nvSpPr>
        <p:spPr>
          <a:xfrm>
            <a:off x="3950208" y="4443984"/>
            <a:ext cx="199339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3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Personas que disfrutan buscar muebles, objetos y hallazgos únicos.</a:t>
            </a:r>
            <a:endParaRPr lang="en-US" sz="1230" dirty="0"/>
          </a:p>
        </p:txBody>
      </p:sp>
      <p:sp>
        <p:nvSpPr>
          <p:cNvPr id="28" name="Shape 26"/>
          <p:cNvSpPr/>
          <p:nvPr/>
        </p:nvSpPr>
        <p:spPr>
          <a:xfrm>
            <a:off x="6373368" y="3858768"/>
            <a:ext cx="2395728" cy="1975104"/>
          </a:xfrm>
          <a:prstGeom prst="roundRect">
            <a:avLst>
              <a:gd name="adj" fmla="val 3704"/>
            </a:avLst>
          </a:prstGeom>
          <a:solidFill>
            <a:srgbClr val="FAF8F4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74536" y="4096512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0" b="1" kern="0" spc="90" dirty="0">
                <a:solidFill>
                  <a:srgbClr val="7F8B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PROMESA</a:t>
            </a:r>
            <a:endParaRPr lang="en-US" sz="820" dirty="0"/>
          </a:p>
        </p:txBody>
      </p:sp>
      <p:sp>
        <p:nvSpPr>
          <p:cNvPr id="30" name="Text 28"/>
          <p:cNvSpPr txBox="1"/>
          <p:nvPr/>
        </p:nvSpPr>
        <p:spPr>
          <a:xfrm>
            <a:off x="6574536" y="4443984"/>
            <a:ext cx="199339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30" b="1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visita puede revelar algo distinto.</a:t>
            </a:r>
            <a:endParaRPr lang="en-US" sz="1230" dirty="0"/>
          </a:p>
        </p:txBody>
      </p:sp>
      <p:sp>
        <p:nvSpPr>
          <p:cNvPr id="31" name="Shape 29"/>
          <p:cNvSpPr/>
          <p:nvPr/>
        </p:nvSpPr>
        <p:spPr>
          <a:xfrm>
            <a:off x="8997696" y="3858768"/>
            <a:ext cx="2395728" cy="1975104"/>
          </a:xfrm>
          <a:prstGeom prst="roundRect">
            <a:avLst>
              <a:gd name="adj" fmla="val 3704"/>
            </a:avLst>
          </a:prstGeom>
          <a:solidFill>
            <a:srgbClr val="FAF8F4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98864" y="4096512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0" b="1" kern="0" spc="90" dirty="0">
                <a:solidFill>
                  <a:srgbClr val="7F8B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CONVERSIÓN</a:t>
            </a:r>
            <a:endParaRPr lang="en-US" sz="820" dirty="0"/>
          </a:p>
        </p:txBody>
      </p:sp>
      <p:sp>
        <p:nvSpPr>
          <p:cNvPr id="33" name="Text 31"/>
          <p:cNvSpPr txBox="1"/>
          <p:nvPr/>
        </p:nvSpPr>
        <p:spPr>
          <a:xfrm>
            <a:off x="9198864" y="4443984"/>
            <a:ext cx="199339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3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Encontrar una tienda, consultar horarios y visitarla.</a:t>
            </a:r>
            <a:endParaRPr lang="en-US" sz="1230" dirty="0"/>
          </a:p>
        </p:txBody>
      </p:sp>
      <p:sp>
        <p:nvSpPr>
          <p:cNvPr id="34" name="Shape 32"/>
          <p:cNvSpPr/>
          <p:nvPr/>
        </p:nvSpPr>
        <p:spPr>
          <a:xfrm>
            <a:off x="594360" y="6519672"/>
            <a:ext cx="11000232" cy="0"/>
          </a:xfrm>
          <a:prstGeom prst="line">
            <a:avLst/>
          </a:prstGeom>
          <a:noFill/>
          <a:ln w="10160">
            <a:solidFill>
              <a:srgbClr val="D7D1C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03504" y="658368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kern="0" spc="9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PORTAFOLIO ESTRATÉGICO V1.0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3886200" y="6583680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kern="0" spc="90" dirty="0">
                <a:solidFill>
                  <a:srgbClr val="7F8B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SECONDCHANCE.PT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11119104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 name="Slide 12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38912"/>
            <a:ext cx="1444752" cy="329184"/>
          </a:xfrm>
          <a:prstGeom prst="roundRect">
            <a:avLst/>
          </a:prstGeom>
          <a:solidFill>
            <a:srgbClr val="7F8B58"/>
          </a:solidFill>
          <a:ln w="7620">
            <a:solidFill>
              <a:srgbClr val="7F8B5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13232" y="507492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11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DIAGNÓSTICO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03504" y="877824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DAFO - SecondChance.pt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1563624"/>
            <a:ext cx="10652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Lectura pragmática del punto cero. No es un veredicto: es una lista de hipótesis que deben validarse con operación y datos.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3504" y="2011680"/>
            <a:ext cx="5404104" cy="1938528"/>
          </a:xfrm>
          <a:prstGeom prst="roundRect">
            <a:avLst>
              <a:gd name="adj" fmla="val 3774"/>
            </a:avLst>
          </a:prstGeom>
          <a:solidFill>
            <a:srgbClr val="E8F0EA"/>
          </a:solidFill>
          <a:ln w="10160">
            <a:solidFill>
              <a:srgbClr val="E8F0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" y="2258568"/>
            <a:ext cx="438912" cy="438912"/>
          </a:xfrm>
          <a:prstGeom prst="ellipse">
            <a:avLst/>
          </a:prstGeom>
          <a:solidFill>
            <a:srgbClr val="50735F"/>
          </a:solidFill>
          <a:ln w="12700">
            <a:solidFill>
              <a:srgbClr val="5073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32104" y="232257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408176" y="23134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00" dirty="0">
                <a:solidFill>
                  <a:srgbClr val="5073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FORTALEZAS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05256" y="2816352"/>
            <a:ext cx="82296" cy="82296"/>
          </a:xfrm>
          <a:prstGeom prst="ellipse">
            <a:avLst/>
          </a:prstGeom>
          <a:solidFill>
            <a:srgbClr val="50735F"/>
          </a:solidFill>
          <a:ln w="12700">
            <a:solidFill>
              <a:srgbClr val="50735F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9848" y="2724912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 física, objetos reales y rotación auténtica.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905256" y="3072384"/>
            <a:ext cx="82296" cy="82296"/>
          </a:xfrm>
          <a:prstGeom prst="ellipse">
            <a:avLst/>
          </a:prstGeom>
          <a:solidFill>
            <a:srgbClr val="50735F"/>
          </a:solidFill>
          <a:ln w="12700">
            <a:solidFill>
              <a:srgbClr val="50735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69848" y="2980944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Experiencia de descubrimiento difícil de replicar online.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905256" y="3328416"/>
            <a:ext cx="82296" cy="82296"/>
          </a:xfrm>
          <a:prstGeom prst="ellipse">
            <a:avLst/>
          </a:prstGeom>
          <a:solidFill>
            <a:srgbClr val="50735F"/>
          </a:solidFill>
          <a:ln w="12700">
            <a:solidFill>
              <a:srgbClr val="50735F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69848" y="3236976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Contenido visual abundante y de bajo coste de producción.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905256" y="3584448"/>
            <a:ext cx="82296" cy="82296"/>
          </a:xfrm>
          <a:prstGeom prst="ellipse">
            <a:avLst/>
          </a:prstGeom>
          <a:solidFill>
            <a:srgbClr val="50735F"/>
          </a:solidFill>
          <a:ln w="12700">
            <a:solidFill>
              <a:srgbClr val="50735F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69848" y="3493008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humana y circular sin necesidad de sobreexplicarla.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6181344" y="2011680"/>
            <a:ext cx="5404104" cy="1938528"/>
          </a:xfrm>
          <a:prstGeom prst="roundRect">
            <a:avLst>
              <a:gd name="adj" fmla="val 3774"/>
            </a:avLst>
          </a:prstGeom>
          <a:solidFill>
            <a:srgbClr val="F4E8E4"/>
          </a:solidFill>
          <a:ln w="10160">
            <a:solidFill>
              <a:srgbClr val="F4E8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9944" y="2258568"/>
            <a:ext cx="438912" cy="438912"/>
          </a:xfrm>
          <a:prstGeom prst="ellipse">
            <a:avLst/>
          </a:prstGeom>
          <a:solidFill>
            <a:srgbClr val="B6534C"/>
          </a:solidFill>
          <a:ln w="12700">
            <a:solidFill>
              <a:srgbClr val="B6534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9944" y="232257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986016" y="23134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00" dirty="0">
                <a:solidFill>
                  <a:srgbClr val="B653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DEBILIDADES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83096" y="2816352"/>
            <a:ext cx="82296" cy="82296"/>
          </a:xfrm>
          <a:prstGeom prst="ellipse">
            <a:avLst/>
          </a:prstGeom>
          <a:solidFill>
            <a:srgbClr val="B6534C"/>
          </a:solidFill>
          <a:ln w="12700">
            <a:solidFill>
              <a:srgbClr val="B6534C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47688" y="2724912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Identidad mezclada con producto nuevo y otras organizaciones.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6483096" y="3072384"/>
            <a:ext cx="82296" cy="82296"/>
          </a:xfrm>
          <a:prstGeom prst="ellipse">
            <a:avLst/>
          </a:prstGeom>
          <a:solidFill>
            <a:srgbClr val="B6534C"/>
          </a:solidFill>
          <a:ln w="12700">
            <a:solidFill>
              <a:srgbClr val="B6534C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47688" y="2980944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existe catálogo central ni stock predecible.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6483096" y="3328416"/>
            <a:ext cx="82296" cy="82296"/>
          </a:xfrm>
          <a:prstGeom prst="ellipse">
            <a:avLst/>
          </a:prstGeom>
          <a:solidFill>
            <a:srgbClr val="B6534C"/>
          </a:solidFill>
          <a:ln w="12700">
            <a:solidFill>
              <a:srgbClr val="B6534C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47688" y="3236976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Experiencia, datos y presentación pueden variar por tienda.</a:t>
            </a:r>
            <a:endParaRPr lang="en-US" sz="1060" dirty="0"/>
          </a:p>
        </p:txBody>
      </p:sp>
      <p:sp>
        <p:nvSpPr>
          <p:cNvPr id="28" name="Shape 26"/>
          <p:cNvSpPr/>
          <p:nvPr/>
        </p:nvSpPr>
        <p:spPr>
          <a:xfrm>
            <a:off x="6483096" y="3584448"/>
            <a:ext cx="82296" cy="82296"/>
          </a:xfrm>
          <a:prstGeom prst="ellipse">
            <a:avLst/>
          </a:prstGeom>
          <a:solidFill>
            <a:srgbClr val="B6534C"/>
          </a:solidFill>
          <a:ln w="12700">
            <a:solidFill>
              <a:srgbClr val="B6534C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47688" y="3493008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 provisional con errores y afirmaciones poco fiables.</a:t>
            </a:r>
            <a:endParaRPr lang="en-US" sz="1060" dirty="0"/>
          </a:p>
        </p:txBody>
      </p:sp>
      <p:sp>
        <p:nvSpPr>
          <p:cNvPr id="30" name="Shape 28"/>
          <p:cNvSpPr/>
          <p:nvPr/>
        </p:nvSpPr>
        <p:spPr>
          <a:xfrm>
            <a:off x="603504" y="4178808"/>
            <a:ext cx="5404104" cy="1938528"/>
          </a:xfrm>
          <a:prstGeom prst="roundRect">
            <a:avLst>
              <a:gd name="adj" fmla="val 3774"/>
            </a:avLst>
          </a:prstGeom>
          <a:solidFill>
            <a:srgbClr val="E7EEF1"/>
          </a:solidFill>
          <a:ln w="10160">
            <a:solidFill>
              <a:srgbClr val="E7EEF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2104" y="4425696"/>
            <a:ext cx="438912" cy="438912"/>
          </a:xfrm>
          <a:prstGeom prst="ellipse">
            <a:avLst/>
          </a:prstGeom>
          <a:solidFill>
            <a:srgbClr val="3C7088"/>
          </a:solidFill>
          <a:ln w="12700">
            <a:solidFill>
              <a:srgbClr val="3C708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32104" y="448970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408176" y="44805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00" dirty="0">
                <a:solidFill>
                  <a:srgbClr val="3C70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OPORTUNIDADES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05256" y="4983480"/>
            <a:ext cx="82296" cy="82296"/>
          </a:xfrm>
          <a:prstGeom prst="ellipse">
            <a:avLst/>
          </a:prstGeom>
          <a:solidFill>
            <a:srgbClr val="3C7088"/>
          </a:solidFill>
          <a:ln w="12700">
            <a:solidFill>
              <a:srgbClr val="3C7088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69848" y="4892040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Interés por vintage, reutilización y compra local.</a:t>
            </a:r>
            <a:endParaRPr lang="en-US" sz="1060" dirty="0"/>
          </a:p>
        </p:txBody>
      </p:sp>
      <p:sp>
        <p:nvSpPr>
          <p:cNvPr id="36" name="Shape 34"/>
          <p:cNvSpPr/>
          <p:nvPr/>
        </p:nvSpPr>
        <p:spPr>
          <a:xfrm>
            <a:off x="905256" y="5239512"/>
            <a:ext cx="82296" cy="82296"/>
          </a:xfrm>
          <a:prstGeom prst="ellipse">
            <a:avLst/>
          </a:prstGeom>
          <a:solidFill>
            <a:srgbClr val="3C7088"/>
          </a:solidFill>
          <a:ln w="12700">
            <a:solidFill>
              <a:srgbClr val="3C7088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69848" y="5148072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SEO local, mapas y contenidos de “achados”.</a:t>
            </a:r>
            <a:endParaRPr lang="en-US" sz="1060" dirty="0"/>
          </a:p>
        </p:txBody>
      </p:sp>
      <p:sp>
        <p:nvSpPr>
          <p:cNvPr id="38" name="Shape 36"/>
          <p:cNvSpPr/>
          <p:nvPr/>
        </p:nvSpPr>
        <p:spPr>
          <a:xfrm>
            <a:off x="905256" y="5495544"/>
            <a:ext cx="82296" cy="82296"/>
          </a:xfrm>
          <a:prstGeom prst="ellipse">
            <a:avLst/>
          </a:prstGeom>
          <a:solidFill>
            <a:srgbClr val="3C7088"/>
          </a:solidFill>
          <a:ln w="12700">
            <a:solidFill>
              <a:srgbClr val="3C7088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69848" y="5404104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Comunidad recurrente alrededor de nuevas entradas.</a:t>
            </a:r>
            <a:endParaRPr lang="en-US" sz="1060" dirty="0"/>
          </a:p>
        </p:txBody>
      </p:sp>
      <p:sp>
        <p:nvSpPr>
          <p:cNvPr id="40" name="Shape 38"/>
          <p:cNvSpPr/>
          <p:nvPr/>
        </p:nvSpPr>
        <p:spPr>
          <a:xfrm>
            <a:off x="905256" y="5751576"/>
            <a:ext cx="82296" cy="82296"/>
          </a:xfrm>
          <a:prstGeom prst="ellipse">
            <a:avLst/>
          </a:prstGeom>
          <a:solidFill>
            <a:srgbClr val="3C7088"/>
          </a:solidFill>
          <a:ln w="12700">
            <a:solidFill>
              <a:srgbClr val="3C7088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69848" y="5660136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Diferenciación clara frente a marketplaces anónimos.</a:t>
            </a:r>
            <a:endParaRPr lang="en-US" sz="1060" dirty="0"/>
          </a:p>
        </p:txBody>
      </p:sp>
      <p:sp>
        <p:nvSpPr>
          <p:cNvPr id="42" name="Shape 40"/>
          <p:cNvSpPr/>
          <p:nvPr/>
        </p:nvSpPr>
        <p:spPr>
          <a:xfrm>
            <a:off x="6181344" y="4178808"/>
            <a:ext cx="5404104" cy="1938528"/>
          </a:xfrm>
          <a:prstGeom prst="roundRect">
            <a:avLst>
              <a:gd name="adj" fmla="val 3774"/>
            </a:avLst>
          </a:prstGeom>
          <a:solidFill>
            <a:srgbClr val="F3EEE1"/>
          </a:solidFill>
          <a:ln w="10160">
            <a:solidFill>
              <a:srgbClr val="F3EE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09944" y="4425696"/>
            <a:ext cx="438912" cy="438912"/>
          </a:xfrm>
          <a:prstGeom prst="ellipse">
            <a:avLst/>
          </a:prstGeom>
          <a:solidFill>
            <a:srgbClr val="D1A258"/>
          </a:solidFill>
          <a:ln w="12700">
            <a:solidFill>
              <a:srgbClr val="D1A25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409944" y="448970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986016" y="44805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00" dirty="0">
                <a:solidFill>
                  <a:srgbClr val="D1A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AMENAZAS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483096" y="4983480"/>
            <a:ext cx="82296" cy="82296"/>
          </a:xfrm>
          <a:prstGeom prst="ellipse">
            <a:avLst/>
          </a:prstGeom>
          <a:solidFill>
            <a:srgbClr val="D1A258"/>
          </a:solidFill>
          <a:ln w="12700">
            <a:solidFill>
              <a:srgbClr val="D1A258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647688" y="4892040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Estigma de producto usado o percepción de desorden.</a:t>
            </a:r>
            <a:endParaRPr lang="en-US" sz="1060" dirty="0"/>
          </a:p>
        </p:txBody>
      </p:sp>
      <p:sp>
        <p:nvSpPr>
          <p:cNvPr id="48" name="Shape 46"/>
          <p:cNvSpPr/>
          <p:nvPr/>
        </p:nvSpPr>
        <p:spPr>
          <a:xfrm>
            <a:off x="6483096" y="5239512"/>
            <a:ext cx="82296" cy="82296"/>
          </a:xfrm>
          <a:prstGeom prst="ellipse">
            <a:avLst/>
          </a:prstGeom>
          <a:solidFill>
            <a:srgbClr val="D1A258"/>
          </a:solidFill>
          <a:ln w="12700">
            <a:solidFill>
              <a:srgbClr val="D1A258">
                <a:alpha val="0"/>
              </a:srgbClr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647688" y="5148072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Horarios y ubicaciones desactualizados destruyen confianza.</a:t>
            </a:r>
            <a:endParaRPr lang="en-US" sz="1060" dirty="0"/>
          </a:p>
        </p:txBody>
      </p:sp>
      <p:sp>
        <p:nvSpPr>
          <p:cNvPr id="50" name="Shape 48"/>
          <p:cNvSpPr/>
          <p:nvPr/>
        </p:nvSpPr>
        <p:spPr>
          <a:xfrm>
            <a:off x="6483096" y="5495544"/>
            <a:ext cx="82296" cy="82296"/>
          </a:xfrm>
          <a:prstGeom prst="ellipse">
            <a:avLst/>
          </a:prstGeom>
          <a:solidFill>
            <a:srgbClr val="D1A258"/>
          </a:solidFill>
          <a:ln w="12700">
            <a:solidFill>
              <a:srgbClr val="D1A258">
                <a:alpha val="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647688" y="5404104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Exceso de discurso institucional o moralista.</a:t>
            </a:r>
            <a:endParaRPr lang="en-US" sz="1060" dirty="0"/>
          </a:p>
        </p:txBody>
      </p:sp>
      <p:sp>
        <p:nvSpPr>
          <p:cNvPr id="52" name="Shape 50"/>
          <p:cNvSpPr/>
          <p:nvPr/>
        </p:nvSpPr>
        <p:spPr>
          <a:xfrm>
            <a:off x="6483096" y="5751576"/>
            <a:ext cx="82296" cy="82296"/>
          </a:xfrm>
          <a:prstGeom prst="ellipse">
            <a:avLst/>
          </a:prstGeom>
          <a:solidFill>
            <a:srgbClr val="D1A258"/>
          </a:solidFill>
          <a:ln w="12700">
            <a:solidFill>
              <a:srgbClr val="D1A258">
                <a:alpha val="0"/>
              </a:srgbClr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647688" y="5660136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Prometer disponibilidad que cambia antes de la visita.</a:t>
            </a:r>
            <a:endParaRPr lang="en-US" sz="1060" dirty="0"/>
          </a:p>
        </p:txBody>
      </p:sp>
      <p:sp>
        <p:nvSpPr>
          <p:cNvPr id="54" name="Shape 52"/>
          <p:cNvSpPr/>
          <p:nvPr/>
        </p:nvSpPr>
        <p:spPr>
          <a:xfrm>
            <a:off x="594360" y="6519672"/>
            <a:ext cx="11000232" cy="0"/>
          </a:xfrm>
          <a:prstGeom prst="line">
            <a:avLst/>
          </a:prstGeom>
          <a:noFill/>
          <a:ln w="10160">
            <a:solidFill>
              <a:srgbClr val="D7D1C8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03504" y="658368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kern="0" spc="9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PORTAFOLIO ESTRATÉGICO V1.0</a:t>
            </a:r>
            <a:endParaRPr lang="en-US" sz="750" dirty="0"/>
          </a:p>
        </p:txBody>
      </p:sp>
      <p:sp>
        <p:nvSpPr>
          <p:cNvPr id="56" name="Text 54"/>
          <p:cNvSpPr txBox="1"/>
          <p:nvPr/>
        </p:nvSpPr>
        <p:spPr>
          <a:xfrm>
            <a:off x="3886200" y="6583680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kern="0" spc="90" dirty="0">
                <a:solidFill>
                  <a:srgbClr val="7F8B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SECONDCHANCE.PT</a:t>
            </a:r>
            <a:endParaRPr lang="en-US" sz="750" dirty="0"/>
          </a:p>
        </p:txBody>
      </p:sp>
      <p:sp>
        <p:nvSpPr>
          <p:cNvPr id="57" name="Text 55"/>
          <p:cNvSpPr txBox="1"/>
          <p:nvPr/>
        </p:nvSpPr>
        <p:spPr>
          <a:xfrm>
            <a:off x="11119104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 name="Slide 13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38912"/>
            <a:ext cx="1316736" cy="329184"/>
          </a:xfrm>
          <a:prstGeom prst="roundRect">
            <a:avLst/>
          </a:prstGeom>
          <a:solidFill>
            <a:srgbClr val="7F8B58"/>
          </a:solidFill>
          <a:ln w="7620">
            <a:solidFill>
              <a:srgbClr val="7F8B5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13232" y="5074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11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EJECUCIÓN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03504" y="877824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Prioridades V1.0 - SecondChance.pt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1563624"/>
            <a:ext cx="10652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Construir una marca que despierte curiosidad y mueva personas hacia las tiendas, sin fingir un catálogo estable.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3504" y="2029968"/>
            <a:ext cx="3493008" cy="2980944"/>
          </a:xfrm>
          <a:prstGeom prst="roundRect">
            <a:avLst>
              <a:gd name="adj" fmla="val 2454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2860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7F8B5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3317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2431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0-30 DÍAS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77824" y="2962656"/>
            <a:ext cx="82296" cy="82296"/>
          </a:xfrm>
          <a:prstGeom prst="ellipse">
            <a:avLst/>
          </a:prstGeom>
          <a:solidFill>
            <a:srgbClr val="7F8B58"/>
          </a:solidFill>
          <a:ln w="12700">
            <a:solidFill>
              <a:srgbClr val="7F8B58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42416" y="2871216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Auditar tiendas, horarios, contactos y experiencia real.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877824" y="3529584"/>
            <a:ext cx="82296" cy="82296"/>
          </a:xfrm>
          <a:prstGeom prst="ellipse">
            <a:avLst/>
          </a:prstGeom>
          <a:solidFill>
            <a:srgbClr val="7F8B58"/>
          </a:solidFill>
          <a:ln w="12700">
            <a:solidFill>
              <a:srgbClr val="7F8B58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42416" y="3438144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Definir identidad, voz y límites con Allmoveis.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877824" y="4096512"/>
            <a:ext cx="82296" cy="82296"/>
          </a:xfrm>
          <a:prstGeom prst="ellipse">
            <a:avLst/>
          </a:prstGeom>
          <a:solidFill>
            <a:srgbClr val="7F8B58"/>
          </a:solidFill>
          <a:ln w="12700">
            <a:solidFill>
              <a:srgbClr val="7F8B58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42416" y="4005072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Eliminar todas las afirmaciones no verificadas.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4370832" y="2029968"/>
            <a:ext cx="3493008" cy="2980944"/>
          </a:xfrm>
          <a:prstGeom prst="roundRect">
            <a:avLst>
              <a:gd name="adj" fmla="val 2454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08576" y="22860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7F8B5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5276088" y="23317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2431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31-60 DÍAS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45152" y="2962656"/>
            <a:ext cx="82296" cy="82296"/>
          </a:xfrm>
          <a:prstGeom prst="ellipse">
            <a:avLst/>
          </a:prstGeom>
          <a:solidFill>
            <a:srgbClr val="7F8B58"/>
          </a:solidFill>
          <a:ln w="12700">
            <a:solidFill>
              <a:srgbClr val="7F8B58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09744" y="2871216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Crear páginas locales y un localizador fiable.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4645152" y="3529584"/>
            <a:ext cx="82296" cy="82296"/>
          </a:xfrm>
          <a:prstGeom prst="ellipse">
            <a:avLst/>
          </a:prstGeom>
          <a:solidFill>
            <a:srgbClr val="7F8B58"/>
          </a:solidFill>
          <a:ln w="12700">
            <a:solidFill>
              <a:srgbClr val="7F8B58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09744" y="3438144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Diseñar formato recurrente de “achados”.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4645152" y="4096512"/>
            <a:ext cx="82296" cy="82296"/>
          </a:xfrm>
          <a:prstGeom prst="ellipse">
            <a:avLst/>
          </a:prstGeom>
          <a:solidFill>
            <a:srgbClr val="7F8B58"/>
          </a:solidFill>
          <a:ln w="12700">
            <a:solidFill>
              <a:srgbClr val="7F8B58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09744" y="4005072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Establecer reglas de foto, precio y disponibilidad.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8138160" y="2029968"/>
            <a:ext cx="3493008" cy="2980944"/>
          </a:xfrm>
          <a:prstGeom prst="roundRect">
            <a:avLst>
              <a:gd name="adj" fmla="val 2454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75904" y="22860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7F8B5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03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9043416" y="23317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2431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61-90 DÍAS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412480" y="2962656"/>
            <a:ext cx="82296" cy="82296"/>
          </a:xfrm>
          <a:prstGeom prst="ellipse">
            <a:avLst/>
          </a:prstGeom>
          <a:solidFill>
            <a:srgbClr val="7F8B58"/>
          </a:solidFill>
          <a:ln w="12700">
            <a:solidFill>
              <a:srgbClr val="7F8B58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577072" y="2871216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Lanzar contenido por tienda y medir intención de visita.</a:t>
            </a:r>
            <a:endParaRPr lang="en-US" sz="1180" dirty="0"/>
          </a:p>
        </p:txBody>
      </p:sp>
      <p:sp>
        <p:nvSpPr>
          <p:cNvPr id="29" name="Shape 27"/>
          <p:cNvSpPr/>
          <p:nvPr/>
        </p:nvSpPr>
        <p:spPr>
          <a:xfrm>
            <a:off x="8412480" y="3529584"/>
            <a:ext cx="82296" cy="82296"/>
          </a:xfrm>
          <a:prstGeom prst="ellipse">
            <a:avLst/>
          </a:prstGeom>
          <a:solidFill>
            <a:srgbClr val="7F8B58"/>
          </a:solidFill>
          <a:ln w="12700">
            <a:solidFill>
              <a:srgbClr val="7F8B58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577072" y="3438144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Activar reseñas, mapas y comunidad local.</a:t>
            </a:r>
            <a:endParaRPr lang="en-US" sz="1180" dirty="0"/>
          </a:p>
        </p:txBody>
      </p:sp>
      <p:sp>
        <p:nvSpPr>
          <p:cNvPr id="31" name="Shape 29"/>
          <p:cNvSpPr/>
          <p:nvPr/>
        </p:nvSpPr>
        <p:spPr>
          <a:xfrm>
            <a:off x="8412480" y="4096512"/>
            <a:ext cx="82296" cy="82296"/>
          </a:xfrm>
          <a:prstGeom prst="ellipse">
            <a:avLst/>
          </a:prstGeom>
          <a:solidFill>
            <a:srgbClr val="7F8B58"/>
          </a:solidFill>
          <a:ln w="12700">
            <a:solidFill>
              <a:srgbClr val="7F8B58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577072" y="4005072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Ajustar la experiencia física según preguntas reales.</a:t>
            </a:r>
            <a:endParaRPr lang="en-US" sz="1180" dirty="0"/>
          </a:p>
        </p:txBody>
      </p:sp>
      <p:sp>
        <p:nvSpPr>
          <p:cNvPr id="33" name="Shape 31"/>
          <p:cNvSpPr/>
          <p:nvPr/>
        </p:nvSpPr>
        <p:spPr>
          <a:xfrm>
            <a:off x="603504" y="5266944"/>
            <a:ext cx="10981944" cy="658368"/>
          </a:xfrm>
          <a:prstGeom prst="roundRect">
            <a:avLst>
              <a:gd name="adj" fmla="val 11111"/>
            </a:avLst>
          </a:prstGeom>
          <a:solidFill>
            <a:srgbClr val="7F8B58"/>
          </a:solidFill>
          <a:ln w="10160">
            <a:solidFill>
              <a:srgbClr val="7F8B5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41248" y="5458968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kern="0" spc="9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 A 12 MESES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2496312" y="5385816"/>
            <a:ext cx="4709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Una identidad independiente que aumenta la visibilidad y el tráfico físico.</a:t>
            </a:r>
            <a:endParaRPr lang="en-US" sz="1450" dirty="0"/>
          </a:p>
        </p:txBody>
      </p:sp>
      <p:sp>
        <p:nvSpPr>
          <p:cNvPr id="36" name="Text 34"/>
          <p:cNvSpPr txBox="1"/>
          <p:nvPr/>
        </p:nvSpPr>
        <p:spPr>
          <a:xfrm>
            <a:off x="7488936" y="545896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kern="0" spc="9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EVIDENCIA MÍNIMA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8833104" y="5367528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Mapas, rutas, consultas y visitas atribuibles por tienda.</a:t>
            </a:r>
            <a:endParaRPr lang="en-US" sz="1130" dirty="0"/>
          </a:p>
        </p:txBody>
      </p:sp>
      <p:sp>
        <p:nvSpPr>
          <p:cNvPr id="38" name="Shape 36"/>
          <p:cNvSpPr/>
          <p:nvPr/>
        </p:nvSpPr>
        <p:spPr>
          <a:xfrm>
            <a:off x="594360" y="6519672"/>
            <a:ext cx="11000232" cy="0"/>
          </a:xfrm>
          <a:prstGeom prst="line">
            <a:avLst/>
          </a:prstGeom>
          <a:noFill/>
          <a:ln w="10160">
            <a:solidFill>
              <a:srgbClr val="D7D1C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03504" y="658368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kern="0" spc="9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PORTAFOLIO ESTRATÉGICO V1.0</a:t>
            </a:r>
            <a:endParaRPr lang="en-US" sz="750" dirty="0"/>
          </a:p>
        </p:txBody>
      </p:sp>
      <p:sp>
        <p:nvSpPr>
          <p:cNvPr id="40" name="Text 38"/>
          <p:cNvSpPr txBox="1"/>
          <p:nvPr/>
        </p:nvSpPr>
        <p:spPr>
          <a:xfrm>
            <a:off x="3886200" y="6583680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kern="0" spc="90" dirty="0">
                <a:solidFill>
                  <a:srgbClr val="7F8B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SECONDCHANCE.PT</a:t>
            </a:r>
            <a:endParaRPr lang="en-US" sz="750" dirty="0"/>
          </a:p>
        </p:txBody>
      </p:sp>
      <p:sp>
        <p:nvSpPr>
          <p:cNvPr id="41" name="Text 39"/>
          <p:cNvSpPr txBox="1"/>
          <p:nvPr/>
        </p:nvSpPr>
        <p:spPr>
          <a:xfrm>
            <a:off x="11119104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 name="Slide 14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38912"/>
            <a:ext cx="1993392" cy="329184"/>
          </a:xfrm>
          <a:prstGeom prst="roundRect">
            <a:avLst/>
          </a:prstGeom>
          <a:solidFill>
            <a:srgbClr val="D78B2E"/>
          </a:solidFill>
          <a:ln w="7620">
            <a:solidFill>
              <a:srgbClr val="D78B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13232" y="507492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11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LIQUIDACIÓN EPISÓDICA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03504" y="877824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FlashStock.pt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1563624"/>
            <a:ext cx="10652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Campañas puntuales para vender las mejores piezas seleccionadas de tráileres y lotes que llegan cada dos o tres meses.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3504" y="2029968"/>
            <a:ext cx="2926080" cy="1143000"/>
          </a:xfrm>
          <a:prstGeom prst="roundRect">
            <a:avLst>
              <a:gd name="adj" fmla="val 6400"/>
            </a:avLst>
          </a:prstGeom>
          <a:solidFill>
            <a:srgbClr val="D78B2E"/>
          </a:solidFill>
          <a:ln w="10160">
            <a:solidFill>
              <a:srgbClr val="D78B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32104" y="225856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PAPEL EN EL PORTAFOLIO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832104" y="2532888"/>
            <a:ext cx="24688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Convertir llegadas irregulares en ventas organizadas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03504" y="3364992"/>
            <a:ext cx="29260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" y="361188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kern="0" spc="100" dirty="0">
                <a:solidFill>
                  <a:srgbClr val="D78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PUNTO DE PARTIDA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41248" y="4023360"/>
            <a:ext cx="82296" cy="82296"/>
          </a:xfrm>
          <a:prstGeom prst="ellipse">
            <a:avLst/>
          </a:prstGeom>
          <a:solidFill>
            <a:srgbClr val="D78B2E"/>
          </a:solidFill>
          <a:ln w="12700">
            <a:solidFill>
              <a:srgbClr val="D78B2E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3931920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3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Existe acceso real a tráileres y excedentes.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841248" y="4416552"/>
            <a:ext cx="82296" cy="82296"/>
          </a:xfrm>
          <a:prstGeom prst="ellipse">
            <a:avLst/>
          </a:prstGeom>
          <a:solidFill>
            <a:srgbClr val="D78B2E"/>
          </a:solidFill>
          <a:ln w="12700">
            <a:solidFill>
              <a:srgbClr val="D78B2E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5840" y="4325112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3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selección y venta dependen de cada llegada.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841248" y="4809744"/>
            <a:ext cx="82296" cy="82296"/>
          </a:xfrm>
          <a:prstGeom prst="ellipse">
            <a:avLst/>
          </a:prstGeom>
          <a:solidFill>
            <a:srgbClr val="D78B2E"/>
          </a:solidFill>
          <a:ln w="12700">
            <a:solidFill>
              <a:srgbClr val="D78B2E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4718304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3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Categorías, unidades y estados son muy variables.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841248" y="5202936"/>
            <a:ext cx="82296" cy="82296"/>
          </a:xfrm>
          <a:prstGeom prst="ellipse">
            <a:avLst/>
          </a:prstGeom>
          <a:solidFill>
            <a:srgbClr val="D78B2E"/>
          </a:solidFill>
          <a:ln w="12700">
            <a:solidFill>
              <a:srgbClr val="D78B2E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5111496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3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Falta un sistema repetible de revisión, etiquetado y campaña.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3749040" y="2029968"/>
            <a:ext cx="3785616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05072" y="228600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kern="0" spc="100" dirty="0">
                <a:solidFill>
                  <a:srgbClr val="D78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VISIÓN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4005072" y="2578608"/>
            <a:ext cx="32552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Convertir cada llegada de lotes en la apertura de oportunidades mejor organizada y más confiable de su zona.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744968" y="2029968"/>
            <a:ext cx="38404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01000" y="228600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kern="0" spc="100" dirty="0">
                <a:solidFill>
                  <a:srgbClr val="D78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MISIÓN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8001000" y="2578608"/>
            <a:ext cx="3310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1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Seleccionar, verificar y comunicar productos de liquidación con estado y precio transparentes, concentrando la venta en campañas puntuales.</a:t>
            </a:r>
            <a:endParaRPr lang="en-US" sz="1410" dirty="0"/>
          </a:p>
        </p:txBody>
      </p:sp>
      <p:sp>
        <p:nvSpPr>
          <p:cNvPr id="25" name="Shape 23"/>
          <p:cNvSpPr/>
          <p:nvPr/>
        </p:nvSpPr>
        <p:spPr>
          <a:xfrm>
            <a:off x="3749040" y="3858768"/>
            <a:ext cx="2395728" cy="1975104"/>
          </a:xfrm>
          <a:prstGeom prst="roundRect">
            <a:avLst>
              <a:gd name="adj" fmla="val 3704"/>
            </a:avLst>
          </a:prstGeom>
          <a:solidFill>
            <a:srgbClr val="FAF8F4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950208" y="4096512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0" b="1" kern="0" spc="90" dirty="0">
                <a:solidFill>
                  <a:srgbClr val="D78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 PRINCIPAL</a:t>
            </a:r>
            <a:endParaRPr lang="en-US" sz="820" dirty="0"/>
          </a:p>
        </p:txBody>
      </p:sp>
      <p:sp>
        <p:nvSpPr>
          <p:cNvPr id="27" name="Text 25"/>
          <p:cNvSpPr txBox="1"/>
          <p:nvPr/>
        </p:nvSpPr>
        <p:spPr>
          <a:xfrm>
            <a:off x="3950208" y="4443984"/>
            <a:ext cx="199339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3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Compradores cautos que aceptan variedad si entienden el estado y el ahorro.</a:t>
            </a:r>
            <a:endParaRPr lang="en-US" sz="1230" dirty="0"/>
          </a:p>
        </p:txBody>
      </p:sp>
      <p:sp>
        <p:nvSpPr>
          <p:cNvPr id="28" name="Shape 26"/>
          <p:cNvSpPr/>
          <p:nvPr/>
        </p:nvSpPr>
        <p:spPr>
          <a:xfrm>
            <a:off x="6373368" y="3858768"/>
            <a:ext cx="2395728" cy="1975104"/>
          </a:xfrm>
          <a:prstGeom prst="roundRect">
            <a:avLst>
              <a:gd name="adj" fmla="val 3704"/>
            </a:avLst>
          </a:prstGeom>
          <a:solidFill>
            <a:srgbClr val="FAF8F4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74536" y="4096512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0" b="1" kern="0" spc="90" dirty="0">
                <a:solidFill>
                  <a:srgbClr val="D78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PROMESA</a:t>
            </a:r>
            <a:endParaRPr lang="en-US" sz="820" dirty="0"/>
          </a:p>
        </p:txBody>
      </p:sp>
      <p:sp>
        <p:nvSpPr>
          <p:cNvPr id="30" name="Text 28"/>
          <p:cNvSpPr txBox="1"/>
          <p:nvPr/>
        </p:nvSpPr>
        <p:spPr>
          <a:xfrm>
            <a:off x="6574536" y="4443984"/>
            <a:ext cx="199339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30" b="1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Buenas piezas, pocas unidades y precios difíciles de repetir.</a:t>
            </a:r>
            <a:endParaRPr lang="en-US" sz="1230" dirty="0"/>
          </a:p>
        </p:txBody>
      </p:sp>
      <p:sp>
        <p:nvSpPr>
          <p:cNvPr id="31" name="Shape 29"/>
          <p:cNvSpPr/>
          <p:nvPr/>
        </p:nvSpPr>
        <p:spPr>
          <a:xfrm>
            <a:off x="8997696" y="3858768"/>
            <a:ext cx="2395728" cy="1975104"/>
          </a:xfrm>
          <a:prstGeom prst="roundRect">
            <a:avLst>
              <a:gd name="adj" fmla="val 3704"/>
            </a:avLst>
          </a:prstGeom>
          <a:solidFill>
            <a:srgbClr val="FAF8F4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98864" y="4096512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0" b="1" kern="0" spc="90" dirty="0">
                <a:solidFill>
                  <a:srgbClr val="D78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CONVERSIÓN</a:t>
            </a:r>
            <a:endParaRPr lang="en-US" sz="820" dirty="0"/>
          </a:p>
        </p:txBody>
      </p:sp>
      <p:sp>
        <p:nvSpPr>
          <p:cNvPr id="33" name="Text 31"/>
          <p:cNvSpPr txBox="1"/>
          <p:nvPr/>
        </p:nvSpPr>
        <p:spPr>
          <a:xfrm>
            <a:off x="9198864" y="4443984"/>
            <a:ext cx="199339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3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Registrarse para la próxima apertura y comprar durante la campaña.</a:t>
            </a:r>
            <a:endParaRPr lang="en-US" sz="1230" dirty="0"/>
          </a:p>
        </p:txBody>
      </p:sp>
      <p:sp>
        <p:nvSpPr>
          <p:cNvPr id="34" name="Shape 32"/>
          <p:cNvSpPr/>
          <p:nvPr/>
        </p:nvSpPr>
        <p:spPr>
          <a:xfrm>
            <a:off x="594360" y="6519672"/>
            <a:ext cx="11000232" cy="0"/>
          </a:xfrm>
          <a:prstGeom prst="line">
            <a:avLst/>
          </a:prstGeom>
          <a:noFill/>
          <a:ln w="10160">
            <a:solidFill>
              <a:srgbClr val="D7D1C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03504" y="658368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kern="0" spc="9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PORTAFOLIO ESTRATÉGICO V1.0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3886200" y="6583680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kern="0" spc="90" dirty="0">
                <a:solidFill>
                  <a:srgbClr val="D78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FLASHSTOCK.PT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11119104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 name="Slide 15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38912"/>
            <a:ext cx="1444752" cy="329184"/>
          </a:xfrm>
          <a:prstGeom prst="roundRect">
            <a:avLst/>
          </a:prstGeom>
          <a:solidFill>
            <a:srgbClr val="D78B2E"/>
          </a:solidFill>
          <a:ln w="7620">
            <a:solidFill>
              <a:srgbClr val="D78B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13232" y="507492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11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DIAGNÓSTICO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03504" y="877824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DAFO - FlashStock.pt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1563624"/>
            <a:ext cx="10652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Lectura pragmática del punto cero. No es un veredicto: es una lista de hipótesis que deben validarse con operación y datos.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3504" y="2011680"/>
            <a:ext cx="5404104" cy="1938528"/>
          </a:xfrm>
          <a:prstGeom prst="roundRect">
            <a:avLst>
              <a:gd name="adj" fmla="val 3774"/>
            </a:avLst>
          </a:prstGeom>
          <a:solidFill>
            <a:srgbClr val="E8F0EA"/>
          </a:solidFill>
          <a:ln w="10160">
            <a:solidFill>
              <a:srgbClr val="E8F0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" y="2258568"/>
            <a:ext cx="438912" cy="438912"/>
          </a:xfrm>
          <a:prstGeom prst="ellipse">
            <a:avLst/>
          </a:prstGeom>
          <a:solidFill>
            <a:srgbClr val="50735F"/>
          </a:solidFill>
          <a:ln w="12700">
            <a:solidFill>
              <a:srgbClr val="5073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32104" y="232257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408176" y="23134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00" dirty="0">
                <a:solidFill>
                  <a:srgbClr val="5073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FORTALEZAS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05256" y="2816352"/>
            <a:ext cx="82296" cy="82296"/>
          </a:xfrm>
          <a:prstGeom prst="ellipse">
            <a:avLst/>
          </a:prstGeom>
          <a:solidFill>
            <a:srgbClr val="50735F"/>
          </a:solidFill>
          <a:ln w="12700">
            <a:solidFill>
              <a:srgbClr val="50735F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9848" y="2724912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Acceso a stock con potencial de precio muy atractivo.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905256" y="3072384"/>
            <a:ext cx="82296" cy="82296"/>
          </a:xfrm>
          <a:prstGeom prst="ellipse">
            <a:avLst/>
          </a:prstGeom>
          <a:solidFill>
            <a:srgbClr val="50735F"/>
          </a:solidFill>
          <a:ln w="12700">
            <a:solidFill>
              <a:srgbClr val="50735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69848" y="2980944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Escasez y variedad reales, no inventadas.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905256" y="3328416"/>
            <a:ext cx="82296" cy="82296"/>
          </a:xfrm>
          <a:prstGeom prst="ellipse">
            <a:avLst/>
          </a:prstGeom>
          <a:solidFill>
            <a:srgbClr val="50735F"/>
          </a:solidFill>
          <a:ln w="12700">
            <a:solidFill>
              <a:srgbClr val="50735F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69848" y="3236976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Unboxing, pruebas y selección generan contenido convincente.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905256" y="3584448"/>
            <a:ext cx="82296" cy="82296"/>
          </a:xfrm>
          <a:prstGeom prst="ellipse">
            <a:avLst/>
          </a:prstGeom>
          <a:solidFill>
            <a:srgbClr val="50735F"/>
          </a:solidFill>
          <a:ln w="12700">
            <a:solidFill>
              <a:srgbClr val="50735F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69848" y="3493008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Implicación directa en stock y venta.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6181344" y="2011680"/>
            <a:ext cx="5404104" cy="1938528"/>
          </a:xfrm>
          <a:prstGeom prst="roundRect">
            <a:avLst>
              <a:gd name="adj" fmla="val 3774"/>
            </a:avLst>
          </a:prstGeom>
          <a:solidFill>
            <a:srgbClr val="F4E8E4"/>
          </a:solidFill>
          <a:ln w="10160">
            <a:solidFill>
              <a:srgbClr val="F4E8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9944" y="2258568"/>
            <a:ext cx="438912" cy="438912"/>
          </a:xfrm>
          <a:prstGeom prst="ellipse">
            <a:avLst/>
          </a:prstGeom>
          <a:solidFill>
            <a:srgbClr val="B6534C"/>
          </a:solidFill>
          <a:ln w="12700">
            <a:solidFill>
              <a:srgbClr val="B6534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9944" y="232257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986016" y="23134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00" dirty="0">
                <a:solidFill>
                  <a:srgbClr val="B653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DEBILIDADES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83096" y="2816352"/>
            <a:ext cx="82296" cy="82296"/>
          </a:xfrm>
          <a:prstGeom prst="ellipse">
            <a:avLst/>
          </a:prstGeom>
          <a:solidFill>
            <a:srgbClr val="B6534C"/>
          </a:solidFill>
          <a:ln w="12700">
            <a:solidFill>
              <a:srgbClr val="B6534C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47688" y="2724912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Suministro irregular y calendario poco predecible.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6483096" y="3072384"/>
            <a:ext cx="82296" cy="82296"/>
          </a:xfrm>
          <a:prstGeom prst="ellipse">
            <a:avLst/>
          </a:prstGeom>
          <a:solidFill>
            <a:srgbClr val="B6534C"/>
          </a:solidFill>
          <a:ln w="12700">
            <a:solidFill>
              <a:srgbClr val="B6534C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47688" y="2980944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Alta carga de inspección, clasificación, foto y almacenaje.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6483096" y="3328416"/>
            <a:ext cx="82296" cy="82296"/>
          </a:xfrm>
          <a:prstGeom prst="ellipse">
            <a:avLst/>
          </a:prstGeom>
          <a:solidFill>
            <a:srgbClr val="B6534C"/>
          </a:solidFill>
          <a:ln w="12700">
            <a:solidFill>
              <a:srgbClr val="B6534C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47688" y="3236976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Mezcla de categorías complica comunicación y layout.</a:t>
            </a:r>
            <a:endParaRPr lang="en-US" sz="1060" dirty="0"/>
          </a:p>
        </p:txBody>
      </p:sp>
      <p:sp>
        <p:nvSpPr>
          <p:cNvPr id="28" name="Shape 26"/>
          <p:cNvSpPr/>
          <p:nvPr/>
        </p:nvSpPr>
        <p:spPr>
          <a:xfrm>
            <a:off x="6483096" y="3584448"/>
            <a:ext cx="82296" cy="82296"/>
          </a:xfrm>
          <a:prstGeom prst="ellipse">
            <a:avLst/>
          </a:prstGeom>
          <a:solidFill>
            <a:srgbClr val="B6534C"/>
          </a:solidFill>
          <a:ln w="12700">
            <a:solidFill>
              <a:srgbClr val="B6534C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47688" y="3493008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Riesgo de condiciones distintas por estado del artículo.</a:t>
            </a:r>
            <a:endParaRPr lang="en-US" sz="1060" dirty="0"/>
          </a:p>
        </p:txBody>
      </p:sp>
      <p:sp>
        <p:nvSpPr>
          <p:cNvPr id="30" name="Shape 28"/>
          <p:cNvSpPr/>
          <p:nvPr/>
        </p:nvSpPr>
        <p:spPr>
          <a:xfrm>
            <a:off x="603504" y="4178808"/>
            <a:ext cx="5404104" cy="1938528"/>
          </a:xfrm>
          <a:prstGeom prst="roundRect">
            <a:avLst>
              <a:gd name="adj" fmla="val 3774"/>
            </a:avLst>
          </a:prstGeom>
          <a:solidFill>
            <a:srgbClr val="E7EEF1"/>
          </a:solidFill>
          <a:ln w="10160">
            <a:solidFill>
              <a:srgbClr val="E7EEF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2104" y="4425696"/>
            <a:ext cx="438912" cy="438912"/>
          </a:xfrm>
          <a:prstGeom prst="ellipse">
            <a:avLst/>
          </a:prstGeom>
          <a:solidFill>
            <a:srgbClr val="3C7088"/>
          </a:solidFill>
          <a:ln w="12700">
            <a:solidFill>
              <a:srgbClr val="3C708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32104" y="448970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408176" y="44805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00" dirty="0">
                <a:solidFill>
                  <a:srgbClr val="3C70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OPORTUNIDADES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05256" y="4983480"/>
            <a:ext cx="82296" cy="82296"/>
          </a:xfrm>
          <a:prstGeom prst="ellipse">
            <a:avLst/>
          </a:prstGeom>
          <a:solidFill>
            <a:srgbClr val="3C7088"/>
          </a:solidFill>
          <a:ln w="12700">
            <a:solidFill>
              <a:srgbClr val="3C7088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69848" y="4892040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Transformar cada tráiler en un evento de venta.</a:t>
            </a:r>
            <a:endParaRPr lang="en-US" sz="1060" dirty="0"/>
          </a:p>
        </p:txBody>
      </p:sp>
      <p:sp>
        <p:nvSpPr>
          <p:cNvPr id="36" name="Shape 34"/>
          <p:cNvSpPr/>
          <p:nvPr/>
        </p:nvSpPr>
        <p:spPr>
          <a:xfrm>
            <a:off x="905256" y="5239512"/>
            <a:ext cx="82296" cy="82296"/>
          </a:xfrm>
          <a:prstGeom prst="ellipse">
            <a:avLst/>
          </a:prstGeom>
          <a:solidFill>
            <a:srgbClr val="3C7088"/>
          </a:solidFill>
          <a:ln w="12700">
            <a:solidFill>
              <a:srgbClr val="3C7088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69848" y="5148072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Crear lista de alertas propia por WhatsApp o correo.</a:t>
            </a:r>
            <a:endParaRPr lang="en-US" sz="1060" dirty="0"/>
          </a:p>
        </p:txBody>
      </p:sp>
      <p:sp>
        <p:nvSpPr>
          <p:cNvPr id="38" name="Shape 36"/>
          <p:cNvSpPr/>
          <p:nvPr/>
        </p:nvSpPr>
        <p:spPr>
          <a:xfrm>
            <a:off x="905256" y="5495544"/>
            <a:ext cx="82296" cy="82296"/>
          </a:xfrm>
          <a:prstGeom prst="ellipse">
            <a:avLst/>
          </a:prstGeom>
          <a:solidFill>
            <a:srgbClr val="3C7088"/>
          </a:solidFill>
          <a:ln w="12700">
            <a:solidFill>
              <a:srgbClr val="3C7088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69848" y="5404104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Aprender qué categorías rotan y ajustar futuras compras.</a:t>
            </a:r>
            <a:endParaRPr lang="en-US" sz="1060" dirty="0"/>
          </a:p>
        </p:txBody>
      </p:sp>
      <p:sp>
        <p:nvSpPr>
          <p:cNvPr id="40" name="Shape 38"/>
          <p:cNvSpPr/>
          <p:nvPr/>
        </p:nvSpPr>
        <p:spPr>
          <a:xfrm>
            <a:off x="905256" y="5751576"/>
            <a:ext cx="82296" cy="82296"/>
          </a:xfrm>
          <a:prstGeom prst="ellipse">
            <a:avLst/>
          </a:prstGeom>
          <a:solidFill>
            <a:srgbClr val="3C7088"/>
          </a:solidFill>
          <a:ln w="12700">
            <a:solidFill>
              <a:srgbClr val="3C7088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69848" y="5660136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Diferenciarse mediante transparencia y prueba real.</a:t>
            </a:r>
            <a:endParaRPr lang="en-US" sz="1060" dirty="0"/>
          </a:p>
        </p:txBody>
      </p:sp>
      <p:sp>
        <p:nvSpPr>
          <p:cNvPr id="42" name="Shape 40"/>
          <p:cNvSpPr/>
          <p:nvPr/>
        </p:nvSpPr>
        <p:spPr>
          <a:xfrm>
            <a:off x="6181344" y="4178808"/>
            <a:ext cx="5404104" cy="1938528"/>
          </a:xfrm>
          <a:prstGeom prst="roundRect">
            <a:avLst>
              <a:gd name="adj" fmla="val 3774"/>
            </a:avLst>
          </a:prstGeom>
          <a:solidFill>
            <a:srgbClr val="F3EEE1"/>
          </a:solidFill>
          <a:ln w="10160">
            <a:solidFill>
              <a:srgbClr val="F3EE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09944" y="4425696"/>
            <a:ext cx="438912" cy="438912"/>
          </a:xfrm>
          <a:prstGeom prst="ellipse">
            <a:avLst/>
          </a:prstGeom>
          <a:solidFill>
            <a:srgbClr val="D1A258"/>
          </a:solidFill>
          <a:ln w="12700">
            <a:solidFill>
              <a:srgbClr val="D1A25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409944" y="448970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986016" y="44805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00" dirty="0">
                <a:solidFill>
                  <a:srgbClr val="D1A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AMENAZAS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483096" y="4983480"/>
            <a:ext cx="82296" cy="82296"/>
          </a:xfrm>
          <a:prstGeom prst="ellipse">
            <a:avLst/>
          </a:prstGeom>
          <a:solidFill>
            <a:srgbClr val="D1A258"/>
          </a:solidFill>
          <a:ln w="12700">
            <a:solidFill>
              <a:srgbClr val="D1A258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647688" y="4892040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pieza defectuosa mal explicada puede dañar toda la marca.</a:t>
            </a:r>
            <a:endParaRPr lang="en-US" sz="1060" dirty="0"/>
          </a:p>
        </p:txBody>
      </p:sp>
      <p:sp>
        <p:nvSpPr>
          <p:cNvPr id="48" name="Shape 46"/>
          <p:cNvSpPr/>
          <p:nvPr/>
        </p:nvSpPr>
        <p:spPr>
          <a:xfrm>
            <a:off x="6483096" y="5239512"/>
            <a:ext cx="82296" cy="82296"/>
          </a:xfrm>
          <a:prstGeom prst="ellipse">
            <a:avLst/>
          </a:prstGeom>
          <a:solidFill>
            <a:srgbClr val="D1A258"/>
          </a:solidFill>
          <a:ln w="12700">
            <a:solidFill>
              <a:srgbClr val="D1A258">
                <a:alpha val="0"/>
              </a:srgbClr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647688" y="5148072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Capital inmovilizado y espacio ocupado por stock lento.</a:t>
            </a:r>
            <a:endParaRPr lang="en-US" sz="1060" dirty="0"/>
          </a:p>
        </p:txBody>
      </p:sp>
      <p:sp>
        <p:nvSpPr>
          <p:cNvPr id="50" name="Shape 48"/>
          <p:cNvSpPr/>
          <p:nvPr/>
        </p:nvSpPr>
        <p:spPr>
          <a:xfrm>
            <a:off x="6483096" y="5495544"/>
            <a:ext cx="82296" cy="82296"/>
          </a:xfrm>
          <a:prstGeom prst="ellipse">
            <a:avLst/>
          </a:prstGeom>
          <a:solidFill>
            <a:srgbClr val="D1A258"/>
          </a:solidFill>
          <a:ln w="12700">
            <a:solidFill>
              <a:srgbClr val="D1A258">
                <a:alpha val="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647688" y="5404104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Percepción de caos o “baratillo” agresivo.</a:t>
            </a:r>
            <a:endParaRPr lang="en-US" sz="1060" dirty="0"/>
          </a:p>
        </p:txBody>
      </p:sp>
      <p:sp>
        <p:nvSpPr>
          <p:cNvPr id="52" name="Shape 50"/>
          <p:cNvSpPr/>
          <p:nvPr/>
        </p:nvSpPr>
        <p:spPr>
          <a:xfrm>
            <a:off x="6483096" y="5751576"/>
            <a:ext cx="82296" cy="82296"/>
          </a:xfrm>
          <a:prstGeom prst="ellipse">
            <a:avLst/>
          </a:prstGeom>
          <a:solidFill>
            <a:srgbClr val="D1A258"/>
          </a:solidFill>
          <a:ln w="12700">
            <a:solidFill>
              <a:srgbClr val="D1A258">
                <a:alpha val="0"/>
              </a:srgbClr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647688" y="5660136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Errores en garantías, devoluciones o información al consumidor.</a:t>
            </a:r>
            <a:endParaRPr lang="en-US" sz="1060" dirty="0"/>
          </a:p>
        </p:txBody>
      </p:sp>
      <p:sp>
        <p:nvSpPr>
          <p:cNvPr id="54" name="Shape 52"/>
          <p:cNvSpPr/>
          <p:nvPr/>
        </p:nvSpPr>
        <p:spPr>
          <a:xfrm>
            <a:off x="594360" y="6519672"/>
            <a:ext cx="11000232" cy="0"/>
          </a:xfrm>
          <a:prstGeom prst="line">
            <a:avLst/>
          </a:prstGeom>
          <a:noFill/>
          <a:ln w="10160">
            <a:solidFill>
              <a:srgbClr val="D7D1C8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03504" y="658368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kern="0" spc="9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PORTAFOLIO ESTRATÉGICO V1.0</a:t>
            </a:r>
            <a:endParaRPr lang="en-US" sz="750" dirty="0"/>
          </a:p>
        </p:txBody>
      </p:sp>
      <p:sp>
        <p:nvSpPr>
          <p:cNvPr id="56" name="Text 54"/>
          <p:cNvSpPr txBox="1"/>
          <p:nvPr/>
        </p:nvSpPr>
        <p:spPr>
          <a:xfrm>
            <a:off x="3886200" y="6583680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kern="0" spc="90" dirty="0">
                <a:solidFill>
                  <a:srgbClr val="D78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FLASHSTOCK.PT</a:t>
            </a:r>
            <a:endParaRPr lang="en-US" sz="750" dirty="0"/>
          </a:p>
        </p:txBody>
      </p:sp>
      <p:sp>
        <p:nvSpPr>
          <p:cNvPr id="57" name="Text 55"/>
          <p:cNvSpPr txBox="1"/>
          <p:nvPr/>
        </p:nvSpPr>
        <p:spPr>
          <a:xfrm>
            <a:off x="11119104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 name="Slide 16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38912"/>
            <a:ext cx="1316736" cy="329184"/>
          </a:xfrm>
          <a:prstGeom prst="roundRect">
            <a:avLst/>
          </a:prstGeom>
          <a:solidFill>
            <a:srgbClr val="D78B2E"/>
          </a:solidFill>
          <a:ln w="7620">
            <a:solidFill>
              <a:srgbClr val="D78B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13232" y="5074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11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EJECUCIÓN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03504" y="877824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Prioridades V1.0 - FlashStock.pt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1563624"/>
            <a:ext cx="10652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Crear un sistema que funcione antes, durante y después de cada tráiler, sin depender de improvisación ni de publicidad estridente.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3504" y="2029968"/>
            <a:ext cx="3493008" cy="2980944"/>
          </a:xfrm>
          <a:prstGeom prst="roundRect">
            <a:avLst>
              <a:gd name="adj" fmla="val 2454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2860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D78B2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3317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2431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0-30 DÍAS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77824" y="2962656"/>
            <a:ext cx="82296" cy="82296"/>
          </a:xfrm>
          <a:prstGeom prst="ellipse">
            <a:avLst/>
          </a:prstGeom>
          <a:solidFill>
            <a:srgbClr val="D78B2E"/>
          </a:solidFill>
          <a:ln w="12700">
            <a:solidFill>
              <a:srgbClr val="D78B2E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42416" y="2871216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Definir SOP de recepción, prueba, estado y etiquetado.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877824" y="3529584"/>
            <a:ext cx="82296" cy="82296"/>
          </a:xfrm>
          <a:prstGeom prst="ellipse">
            <a:avLst/>
          </a:prstGeom>
          <a:solidFill>
            <a:srgbClr val="D78B2E"/>
          </a:solidFill>
          <a:ln w="12700">
            <a:solidFill>
              <a:srgbClr val="D78B2E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42416" y="3438144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Crear SKU, hoja de lote y criterios de descarte.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877824" y="4096512"/>
            <a:ext cx="82296" cy="82296"/>
          </a:xfrm>
          <a:prstGeom prst="ellipse">
            <a:avLst/>
          </a:prstGeom>
          <a:solidFill>
            <a:srgbClr val="D78B2E"/>
          </a:solidFill>
          <a:ln w="12700">
            <a:solidFill>
              <a:srgbClr val="D78B2E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42416" y="4005072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Cerrar reglas de precio, reserva, garantía y devolución.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4370832" y="2029968"/>
            <a:ext cx="3493008" cy="2980944"/>
          </a:xfrm>
          <a:prstGeom prst="roundRect">
            <a:avLst>
              <a:gd name="adj" fmla="val 2454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08576" y="22860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D78B2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5276088" y="23317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2431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31-60 DÍAS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45152" y="2962656"/>
            <a:ext cx="82296" cy="82296"/>
          </a:xfrm>
          <a:prstGeom prst="ellipse">
            <a:avLst/>
          </a:prstGeom>
          <a:solidFill>
            <a:srgbClr val="D78B2E"/>
          </a:solidFill>
          <a:ln w="12700">
            <a:solidFill>
              <a:srgbClr val="D78B2E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09744" y="2871216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Preparar lista de alertas, web de campaña y señalización.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4645152" y="3529584"/>
            <a:ext cx="82296" cy="82296"/>
          </a:xfrm>
          <a:prstGeom prst="ellipse">
            <a:avLst/>
          </a:prstGeom>
          <a:solidFill>
            <a:srgbClr val="D78B2E"/>
          </a:solidFill>
          <a:ln w="12700">
            <a:solidFill>
              <a:srgbClr val="D78B2E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09744" y="3438144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Diseñar guion de contenido desde llegada hasta apertura.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4645152" y="4096512"/>
            <a:ext cx="82296" cy="82296"/>
          </a:xfrm>
          <a:prstGeom prst="ellipse">
            <a:avLst/>
          </a:prstGeom>
          <a:solidFill>
            <a:srgbClr val="D78B2E"/>
          </a:solidFill>
          <a:ln w="12700">
            <a:solidFill>
              <a:srgbClr val="D78B2E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09744" y="4005072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Clasificar stock y seleccionar productos ancla.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8138160" y="2029968"/>
            <a:ext cx="3493008" cy="2980944"/>
          </a:xfrm>
          <a:prstGeom prst="roundRect">
            <a:avLst>
              <a:gd name="adj" fmla="val 2454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75904" y="22860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D78B2E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03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9043416" y="23317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2431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61-90 DÍAS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412480" y="2962656"/>
            <a:ext cx="82296" cy="82296"/>
          </a:xfrm>
          <a:prstGeom prst="ellipse">
            <a:avLst/>
          </a:prstGeom>
          <a:solidFill>
            <a:srgbClr val="D78B2E"/>
          </a:solidFill>
          <a:ln w="12700">
            <a:solidFill>
              <a:srgbClr val="D78B2E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577072" y="2871216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Ejecutar una campaña completa y medir sell-through.</a:t>
            </a:r>
            <a:endParaRPr lang="en-US" sz="1180" dirty="0"/>
          </a:p>
        </p:txBody>
      </p:sp>
      <p:sp>
        <p:nvSpPr>
          <p:cNvPr id="29" name="Shape 27"/>
          <p:cNvSpPr/>
          <p:nvPr/>
        </p:nvSpPr>
        <p:spPr>
          <a:xfrm>
            <a:off x="8412480" y="3529584"/>
            <a:ext cx="82296" cy="82296"/>
          </a:xfrm>
          <a:prstGeom prst="ellipse">
            <a:avLst/>
          </a:prstGeom>
          <a:solidFill>
            <a:srgbClr val="D78B2E"/>
          </a:solidFill>
          <a:ln w="12700">
            <a:solidFill>
              <a:srgbClr val="D78B2E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577072" y="3438144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Documentar incidencias, margen y tiempos de proceso.</a:t>
            </a:r>
            <a:endParaRPr lang="en-US" sz="1180" dirty="0"/>
          </a:p>
        </p:txBody>
      </p:sp>
      <p:sp>
        <p:nvSpPr>
          <p:cNvPr id="31" name="Shape 29"/>
          <p:cNvSpPr/>
          <p:nvPr/>
        </p:nvSpPr>
        <p:spPr>
          <a:xfrm>
            <a:off x="8412480" y="4096512"/>
            <a:ext cx="82296" cy="82296"/>
          </a:xfrm>
          <a:prstGeom prst="ellipse">
            <a:avLst/>
          </a:prstGeom>
          <a:solidFill>
            <a:srgbClr val="D78B2E"/>
          </a:solidFill>
          <a:ln w="12700">
            <a:solidFill>
              <a:srgbClr val="D78B2E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577072" y="4005072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Mejorar el sistema antes de la siguiente llegada.</a:t>
            </a:r>
            <a:endParaRPr lang="en-US" sz="1180" dirty="0"/>
          </a:p>
        </p:txBody>
      </p:sp>
      <p:sp>
        <p:nvSpPr>
          <p:cNvPr id="33" name="Shape 31"/>
          <p:cNvSpPr/>
          <p:nvPr/>
        </p:nvSpPr>
        <p:spPr>
          <a:xfrm>
            <a:off x="603504" y="5266944"/>
            <a:ext cx="10981944" cy="658368"/>
          </a:xfrm>
          <a:prstGeom prst="roundRect">
            <a:avLst>
              <a:gd name="adj" fmla="val 11111"/>
            </a:avLst>
          </a:prstGeom>
          <a:solidFill>
            <a:srgbClr val="D78B2E"/>
          </a:solidFill>
          <a:ln w="10160">
            <a:solidFill>
              <a:srgbClr val="D78B2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41248" y="5458968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kern="0" spc="9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 A 12 MESES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2496312" y="5385816"/>
            <a:ext cx="4709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Cada lote se convierte en una campaña medible y confiable.</a:t>
            </a:r>
            <a:endParaRPr lang="en-US" sz="1450" dirty="0"/>
          </a:p>
        </p:txBody>
      </p:sp>
      <p:sp>
        <p:nvSpPr>
          <p:cNvPr id="36" name="Text 34"/>
          <p:cNvSpPr txBox="1"/>
          <p:nvPr/>
        </p:nvSpPr>
        <p:spPr>
          <a:xfrm>
            <a:off x="7488936" y="545896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kern="0" spc="9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EVIDENCIA MÍNIMA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8833104" y="5367528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Margen por lote, rotación, incidencias y lista de alertas.</a:t>
            </a:r>
            <a:endParaRPr lang="en-US" sz="1130" dirty="0"/>
          </a:p>
        </p:txBody>
      </p:sp>
      <p:sp>
        <p:nvSpPr>
          <p:cNvPr id="38" name="Shape 36"/>
          <p:cNvSpPr/>
          <p:nvPr/>
        </p:nvSpPr>
        <p:spPr>
          <a:xfrm>
            <a:off x="594360" y="6519672"/>
            <a:ext cx="11000232" cy="0"/>
          </a:xfrm>
          <a:prstGeom prst="line">
            <a:avLst/>
          </a:prstGeom>
          <a:noFill/>
          <a:ln w="10160">
            <a:solidFill>
              <a:srgbClr val="D7D1C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03504" y="658368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kern="0" spc="9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PORTAFOLIO ESTRATÉGICO V1.0</a:t>
            </a:r>
            <a:endParaRPr lang="en-US" sz="750" dirty="0"/>
          </a:p>
        </p:txBody>
      </p:sp>
      <p:sp>
        <p:nvSpPr>
          <p:cNvPr id="40" name="Text 38"/>
          <p:cNvSpPr txBox="1"/>
          <p:nvPr/>
        </p:nvSpPr>
        <p:spPr>
          <a:xfrm>
            <a:off x="3886200" y="6583680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kern="0" spc="90" dirty="0">
                <a:solidFill>
                  <a:srgbClr val="D78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FLASHSTOCK.PT</a:t>
            </a:r>
            <a:endParaRPr lang="en-US" sz="750" dirty="0"/>
          </a:p>
        </p:txBody>
      </p:sp>
      <p:sp>
        <p:nvSpPr>
          <p:cNvPr id="41" name="Text 39"/>
          <p:cNvSpPr txBox="1"/>
          <p:nvPr/>
        </p:nvSpPr>
        <p:spPr>
          <a:xfrm>
            <a:off x="11119104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 name="Slide 17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38912"/>
            <a:ext cx="1993392" cy="329184"/>
          </a:xfrm>
          <a:prstGeom prst="roundRect">
            <a:avLst/>
          </a:prstGeom>
          <a:solidFill>
            <a:srgbClr val="2F708D"/>
          </a:solidFill>
          <a:ln w="7620">
            <a:solidFill>
              <a:srgbClr val="2F708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13232" y="507492"/>
            <a:ext cx="1773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11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ESPACIO PARA EVENTOS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03504" y="877824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ICCM Venue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1563624"/>
            <a:ext cx="10652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Sala en Sintra para congresos, conciertos y eventos con escenario, cafetería, aparcamiento y producción técnica integrada.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3504" y="2029968"/>
            <a:ext cx="2926080" cy="1143000"/>
          </a:xfrm>
          <a:prstGeom prst="roundRect">
            <a:avLst>
              <a:gd name="adj" fmla="val 6400"/>
            </a:avLst>
          </a:prstGeom>
          <a:solidFill>
            <a:srgbClr val="2F708D"/>
          </a:solidFill>
          <a:ln w="10160">
            <a:solidFill>
              <a:srgbClr val="2F708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32104" y="225856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PAPEL EN EL PORTAFOLIO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832104" y="2532888"/>
            <a:ext cx="24688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Vender el espacio y la experiencia dentro del recinto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03504" y="3364992"/>
            <a:ext cx="29260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" y="361188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kern="0" spc="100" dirty="0">
                <a:solidFill>
                  <a:srgbClr val="2F70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PUNTO DE PARTIDA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41248" y="4023360"/>
            <a:ext cx="82296" cy="82296"/>
          </a:xfrm>
          <a:prstGeom prst="ellipse">
            <a:avLst/>
          </a:prstGeom>
          <a:solidFill>
            <a:srgbClr val="2F708D"/>
          </a:solidFill>
          <a:ln w="12700">
            <a:solidFill>
              <a:srgbClr val="2F708D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3931920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3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espacio y las capacidades técnicas existen.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841248" y="4416552"/>
            <a:ext cx="82296" cy="82296"/>
          </a:xfrm>
          <a:prstGeom prst="ellipse">
            <a:avLst/>
          </a:prstGeom>
          <a:solidFill>
            <a:srgbClr val="2F708D"/>
          </a:solidFill>
          <a:ln w="12700">
            <a:solidFill>
              <a:srgbClr val="2F708D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5840" y="4325112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3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Hay experiencia operativa en audio, vídeo e iluminación.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841248" y="4809744"/>
            <a:ext cx="82296" cy="82296"/>
          </a:xfrm>
          <a:prstGeom prst="ellipse">
            <a:avLst/>
          </a:prstGeom>
          <a:solidFill>
            <a:srgbClr val="2F708D"/>
          </a:solidFill>
          <a:ln w="12700">
            <a:solidFill>
              <a:srgbClr val="2F708D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4718304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3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Todavía no existe oferta empaquetada ni flujo comercial.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841248" y="5202936"/>
            <a:ext cx="82296" cy="82296"/>
          </a:xfrm>
          <a:prstGeom prst="ellipse">
            <a:avLst/>
          </a:prstGeom>
          <a:solidFill>
            <a:srgbClr val="2F708D"/>
          </a:solidFill>
          <a:ln w="12700">
            <a:solidFill>
              <a:srgbClr val="2F708D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5111496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3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Faltan especificaciones, portfolio, precios y clientes de referencia.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3749040" y="2029968"/>
            <a:ext cx="3785616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05072" y="228600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kern="0" spc="100" dirty="0">
                <a:solidFill>
                  <a:srgbClr val="2F70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VISIÓN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4005072" y="2578608"/>
            <a:ext cx="32552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Ser una referencia en Sintra para eventos que necesitan espacio y producción técnica en un solo lugar.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744968" y="2029968"/>
            <a:ext cx="38404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01000" y="228600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kern="0" spc="100" dirty="0">
                <a:solidFill>
                  <a:srgbClr val="2F70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MISIÓN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8001000" y="2578608"/>
            <a:ext cx="3310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1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Ofrecer un recinto preparado para recibir, producir, grabar y transmitir eventos con coordinación profesional y servicios claros.</a:t>
            </a:r>
            <a:endParaRPr lang="en-US" sz="1410" dirty="0"/>
          </a:p>
        </p:txBody>
      </p:sp>
      <p:sp>
        <p:nvSpPr>
          <p:cNvPr id="25" name="Shape 23"/>
          <p:cNvSpPr/>
          <p:nvPr/>
        </p:nvSpPr>
        <p:spPr>
          <a:xfrm>
            <a:off x="3749040" y="3858768"/>
            <a:ext cx="2395728" cy="1975104"/>
          </a:xfrm>
          <a:prstGeom prst="roundRect">
            <a:avLst>
              <a:gd name="adj" fmla="val 3704"/>
            </a:avLst>
          </a:prstGeom>
          <a:solidFill>
            <a:srgbClr val="FAF8F4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950208" y="4096512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0" b="1" kern="0" spc="90" dirty="0">
                <a:solidFill>
                  <a:srgbClr val="2F70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 PRINCIPAL</a:t>
            </a:r>
            <a:endParaRPr lang="en-US" sz="820" dirty="0"/>
          </a:p>
        </p:txBody>
      </p:sp>
      <p:sp>
        <p:nvSpPr>
          <p:cNvPr id="27" name="Text 25"/>
          <p:cNvSpPr txBox="1"/>
          <p:nvPr/>
        </p:nvSpPr>
        <p:spPr>
          <a:xfrm>
            <a:off x="3950208" y="4443984"/>
            <a:ext cx="199339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3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Empresas, promotores, asociaciones y organizadores de eventos.</a:t>
            </a:r>
            <a:endParaRPr lang="en-US" sz="1230" dirty="0"/>
          </a:p>
        </p:txBody>
      </p:sp>
      <p:sp>
        <p:nvSpPr>
          <p:cNvPr id="28" name="Shape 26"/>
          <p:cNvSpPr/>
          <p:nvPr/>
        </p:nvSpPr>
        <p:spPr>
          <a:xfrm>
            <a:off x="6373368" y="3858768"/>
            <a:ext cx="2395728" cy="1975104"/>
          </a:xfrm>
          <a:prstGeom prst="roundRect">
            <a:avLst>
              <a:gd name="adj" fmla="val 3704"/>
            </a:avLst>
          </a:prstGeom>
          <a:solidFill>
            <a:srgbClr val="FAF8F4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74536" y="4096512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0" b="1" kern="0" spc="90" dirty="0">
                <a:solidFill>
                  <a:srgbClr val="2F70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PROMESA</a:t>
            </a:r>
            <a:endParaRPr lang="en-US" sz="820" dirty="0"/>
          </a:p>
        </p:txBody>
      </p:sp>
      <p:sp>
        <p:nvSpPr>
          <p:cNvPr id="30" name="Text 28"/>
          <p:cNvSpPr txBox="1"/>
          <p:nvPr/>
        </p:nvSpPr>
        <p:spPr>
          <a:xfrm>
            <a:off x="6574536" y="4443984"/>
            <a:ext cx="199339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30" b="1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lugar preparado para recibir, producir y transmitir.</a:t>
            </a:r>
            <a:endParaRPr lang="en-US" sz="1230" dirty="0"/>
          </a:p>
        </p:txBody>
      </p:sp>
      <p:sp>
        <p:nvSpPr>
          <p:cNvPr id="31" name="Shape 29"/>
          <p:cNvSpPr/>
          <p:nvPr/>
        </p:nvSpPr>
        <p:spPr>
          <a:xfrm>
            <a:off x="8997696" y="3858768"/>
            <a:ext cx="2395728" cy="1975104"/>
          </a:xfrm>
          <a:prstGeom prst="roundRect">
            <a:avLst>
              <a:gd name="adj" fmla="val 3704"/>
            </a:avLst>
          </a:prstGeom>
          <a:solidFill>
            <a:srgbClr val="FAF8F4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98864" y="4096512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0" b="1" kern="0" spc="90" dirty="0">
                <a:solidFill>
                  <a:srgbClr val="2F70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CONVERSIÓN</a:t>
            </a:r>
            <a:endParaRPr lang="en-US" sz="820" dirty="0"/>
          </a:p>
        </p:txBody>
      </p:sp>
      <p:sp>
        <p:nvSpPr>
          <p:cNvPr id="33" name="Text 31"/>
          <p:cNvSpPr txBox="1"/>
          <p:nvPr/>
        </p:nvSpPr>
        <p:spPr>
          <a:xfrm>
            <a:off x="9198864" y="4443984"/>
            <a:ext cx="199339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3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Solicitar visita técnica, briefing y presupuesto.</a:t>
            </a:r>
            <a:endParaRPr lang="en-US" sz="1230" dirty="0"/>
          </a:p>
        </p:txBody>
      </p:sp>
      <p:sp>
        <p:nvSpPr>
          <p:cNvPr id="34" name="Shape 32"/>
          <p:cNvSpPr/>
          <p:nvPr/>
        </p:nvSpPr>
        <p:spPr>
          <a:xfrm>
            <a:off x="594360" y="6519672"/>
            <a:ext cx="11000232" cy="0"/>
          </a:xfrm>
          <a:prstGeom prst="line">
            <a:avLst/>
          </a:prstGeom>
          <a:noFill/>
          <a:ln w="10160">
            <a:solidFill>
              <a:srgbClr val="D7D1C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03504" y="658368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kern="0" spc="9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PORTAFOLIO ESTRATÉGICO V1.0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3886200" y="6583680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kern="0" spc="90" dirty="0">
                <a:solidFill>
                  <a:srgbClr val="2F70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ICCM VENUE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11119104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 name="Slide 18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38912"/>
            <a:ext cx="1444752" cy="329184"/>
          </a:xfrm>
          <a:prstGeom prst="roundRect">
            <a:avLst/>
          </a:prstGeom>
          <a:solidFill>
            <a:srgbClr val="2F708D"/>
          </a:solidFill>
          <a:ln w="7620">
            <a:solidFill>
              <a:srgbClr val="2F708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13232" y="507492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11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DIAGNÓSTICO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03504" y="877824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DAFO - ICCM Venue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1563624"/>
            <a:ext cx="10652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Lectura pragmática del punto cero. No es un veredicto: es una lista de hipótesis que deben validarse con operación y datos.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3504" y="2011680"/>
            <a:ext cx="5404104" cy="1938528"/>
          </a:xfrm>
          <a:prstGeom prst="roundRect">
            <a:avLst>
              <a:gd name="adj" fmla="val 3774"/>
            </a:avLst>
          </a:prstGeom>
          <a:solidFill>
            <a:srgbClr val="E8F0EA"/>
          </a:solidFill>
          <a:ln w="10160">
            <a:solidFill>
              <a:srgbClr val="E8F0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" y="2258568"/>
            <a:ext cx="438912" cy="438912"/>
          </a:xfrm>
          <a:prstGeom prst="ellipse">
            <a:avLst/>
          </a:prstGeom>
          <a:solidFill>
            <a:srgbClr val="50735F"/>
          </a:solidFill>
          <a:ln w="12700">
            <a:solidFill>
              <a:srgbClr val="5073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32104" y="232257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408176" y="23134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00" dirty="0">
                <a:solidFill>
                  <a:srgbClr val="5073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FORTALEZAS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05256" y="2816352"/>
            <a:ext cx="82296" cy="82296"/>
          </a:xfrm>
          <a:prstGeom prst="ellipse">
            <a:avLst/>
          </a:prstGeom>
          <a:solidFill>
            <a:srgbClr val="50735F"/>
          </a:solidFill>
          <a:ln w="12700">
            <a:solidFill>
              <a:srgbClr val="50735F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9848" y="2724912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Espacio real con escenario y servicios complementarios.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905256" y="3072384"/>
            <a:ext cx="82296" cy="82296"/>
          </a:xfrm>
          <a:prstGeom prst="ellipse">
            <a:avLst/>
          </a:prstGeom>
          <a:solidFill>
            <a:srgbClr val="50735F"/>
          </a:solidFill>
          <a:ln w="12700">
            <a:solidFill>
              <a:srgbClr val="50735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69848" y="2980944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Audio, iluminación, grabación y streaming disponibles.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905256" y="3328416"/>
            <a:ext cx="82296" cy="82296"/>
          </a:xfrm>
          <a:prstGeom prst="ellipse">
            <a:avLst/>
          </a:prstGeom>
          <a:solidFill>
            <a:srgbClr val="50735F"/>
          </a:solidFill>
          <a:ln w="12700">
            <a:solidFill>
              <a:srgbClr val="50735F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69848" y="3236976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Equipo con experiencia técnica y coordinación.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905256" y="3584448"/>
            <a:ext cx="82296" cy="82296"/>
          </a:xfrm>
          <a:prstGeom prst="ellipse">
            <a:avLst/>
          </a:prstGeom>
          <a:solidFill>
            <a:srgbClr val="50735F"/>
          </a:solidFill>
          <a:ln w="12700">
            <a:solidFill>
              <a:srgbClr val="50735F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69848" y="3493008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Sinergia inmediata con Visual777.pt.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6181344" y="2011680"/>
            <a:ext cx="5404104" cy="1938528"/>
          </a:xfrm>
          <a:prstGeom prst="roundRect">
            <a:avLst>
              <a:gd name="adj" fmla="val 3774"/>
            </a:avLst>
          </a:prstGeom>
          <a:solidFill>
            <a:srgbClr val="F4E8E4"/>
          </a:solidFill>
          <a:ln w="10160">
            <a:solidFill>
              <a:srgbClr val="F4E8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9944" y="2258568"/>
            <a:ext cx="438912" cy="438912"/>
          </a:xfrm>
          <a:prstGeom prst="ellipse">
            <a:avLst/>
          </a:prstGeom>
          <a:solidFill>
            <a:srgbClr val="B6534C"/>
          </a:solidFill>
          <a:ln w="12700">
            <a:solidFill>
              <a:srgbClr val="B6534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9944" y="232257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986016" y="23134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00" dirty="0">
                <a:solidFill>
                  <a:srgbClr val="B653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DEBILIDADES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83096" y="2816352"/>
            <a:ext cx="82296" cy="82296"/>
          </a:xfrm>
          <a:prstGeom prst="ellipse">
            <a:avLst/>
          </a:prstGeom>
          <a:solidFill>
            <a:srgbClr val="B6534C"/>
          </a:solidFill>
          <a:ln w="12700">
            <a:solidFill>
              <a:srgbClr val="B6534C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47688" y="2724912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Marca, clientes y reputación comercial por construir.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6483096" y="3072384"/>
            <a:ext cx="82296" cy="82296"/>
          </a:xfrm>
          <a:prstGeom prst="ellipse">
            <a:avLst/>
          </a:prstGeom>
          <a:solidFill>
            <a:srgbClr val="B6534C"/>
          </a:solidFill>
          <a:ln w="12700">
            <a:solidFill>
              <a:srgbClr val="B6534C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47688" y="2980944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Capacidades, aforo e inventario aún no documentados.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6483096" y="3328416"/>
            <a:ext cx="82296" cy="82296"/>
          </a:xfrm>
          <a:prstGeom prst="ellipse">
            <a:avLst/>
          </a:prstGeom>
          <a:solidFill>
            <a:srgbClr val="B6534C"/>
          </a:solidFill>
          <a:ln w="12700">
            <a:solidFill>
              <a:srgbClr val="B6534C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47688" y="3236976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existe pricing ni proceso uniforme de presupuesto.</a:t>
            </a:r>
            <a:endParaRPr lang="en-US" sz="1060" dirty="0"/>
          </a:p>
        </p:txBody>
      </p:sp>
      <p:sp>
        <p:nvSpPr>
          <p:cNvPr id="28" name="Shape 26"/>
          <p:cNvSpPr/>
          <p:nvPr/>
        </p:nvSpPr>
        <p:spPr>
          <a:xfrm>
            <a:off x="6483096" y="3584448"/>
            <a:ext cx="82296" cy="82296"/>
          </a:xfrm>
          <a:prstGeom prst="ellipse">
            <a:avLst/>
          </a:prstGeom>
          <a:solidFill>
            <a:srgbClr val="B6534C"/>
          </a:solidFill>
          <a:ln w="12700">
            <a:solidFill>
              <a:srgbClr val="B6534C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47688" y="3493008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Dependencia de un equipo técnico limitado.</a:t>
            </a:r>
            <a:endParaRPr lang="en-US" sz="1060" dirty="0"/>
          </a:p>
        </p:txBody>
      </p:sp>
      <p:sp>
        <p:nvSpPr>
          <p:cNvPr id="30" name="Shape 28"/>
          <p:cNvSpPr/>
          <p:nvPr/>
        </p:nvSpPr>
        <p:spPr>
          <a:xfrm>
            <a:off x="603504" y="4178808"/>
            <a:ext cx="5404104" cy="1938528"/>
          </a:xfrm>
          <a:prstGeom prst="roundRect">
            <a:avLst>
              <a:gd name="adj" fmla="val 3774"/>
            </a:avLst>
          </a:prstGeom>
          <a:solidFill>
            <a:srgbClr val="E7EEF1"/>
          </a:solidFill>
          <a:ln w="10160">
            <a:solidFill>
              <a:srgbClr val="E7EEF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2104" y="4425696"/>
            <a:ext cx="438912" cy="438912"/>
          </a:xfrm>
          <a:prstGeom prst="ellipse">
            <a:avLst/>
          </a:prstGeom>
          <a:solidFill>
            <a:srgbClr val="3C7088"/>
          </a:solidFill>
          <a:ln w="12700">
            <a:solidFill>
              <a:srgbClr val="3C708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32104" y="448970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408176" y="44805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00" dirty="0">
                <a:solidFill>
                  <a:srgbClr val="3C70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OPORTUNIDADES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05256" y="4983480"/>
            <a:ext cx="82296" cy="82296"/>
          </a:xfrm>
          <a:prstGeom prst="ellipse">
            <a:avLst/>
          </a:prstGeom>
          <a:solidFill>
            <a:srgbClr val="3C7088"/>
          </a:solidFill>
          <a:ln w="12700">
            <a:solidFill>
              <a:srgbClr val="3C7088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69848" y="4892040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Paquetes de evento presencial, híbrido y grabado.</a:t>
            </a:r>
            <a:endParaRPr lang="en-US" sz="1060" dirty="0"/>
          </a:p>
        </p:txBody>
      </p:sp>
      <p:sp>
        <p:nvSpPr>
          <p:cNvPr id="36" name="Shape 34"/>
          <p:cNvSpPr/>
          <p:nvPr/>
        </p:nvSpPr>
        <p:spPr>
          <a:xfrm>
            <a:off x="905256" y="5239512"/>
            <a:ext cx="82296" cy="82296"/>
          </a:xfrm>
          <a:prstGeom prst="ellipse">
            <a:avLst/>
          </a:prstGeom>
          <a:solidFill>
            <a:srgbClr val="3C7088"/>
          </a:solidFill>
          <a:ln w="12700">
            <a:solidFill>
              <a:srgbClr val="3C7088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69848" y="5148072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Congresos, actuaciones, lanzamientos y reuniones corporativas.</a:t>
            </a:r>
            <a:endParaRPr lang="en-US" sz="1060" dirty="0"/>
          </a:p>
        </p:txBody>
      </p:sp>
      <p:sp>
        <p:nvSpPr>
          <p:cNvPr id="38" name="Shape 36"/>
          <p:cNvSpPr/>
          <p:nvPr/>
        </p:nvSpPr>
        <p:spPr>
          <a:xfrm>
            <a:off x="905256" y="5495544"/>
            <a:ext cx="82296" cy="82296"/>
          </a:xfrm>
          <a:prstGeom prst="ellipse">
            <a:avLst/>
          </a:prstGeom>
          <a:solidFill>
            <a:srgbClr val="3C7088"/>
          </a:solidFill>
          <a:ln w="12700">
            <a:solidFill>
              <a:srgbClr val="3C7088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69848" y="5404104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Venta cruzada de espacio y producción audiovisual.</a:t>
            </a:r>
            <a:endParaRPr lang="en-US" sz="1060" dirty="0"/>
          </a:p>
        </p:txBody>
      </p:sp>
      <p:sp>
        <p:nvSpPr>
          <p:cNvPr id="40" name="Shape 38"/>
          <p:cNvSpPr/>
          <p:nvPr/>
        </p:nvSpPr>
        <p:spPr>
          <a:xfrm>
            <a:off x="905256" y="5751576"/>
            <a:ext cx="82296" cy="82296"/>
          </a:xfrm>
          <a:prstGeom prst="ellipse">
            <a:avLst/>
          </a:prstGeom>
          <a:solidFill>
            <a:srgbClr val="3C7088"/>
          </a:solidFill>
          <a:ln w="12700">
            <a:solidFill>
              <a:srgbClr val="3C7088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69848" y="5660136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Casos de estudio que demuestren transformación de la sala.</a:t>
            </a:r>
            <a:endParaRPr lang="en-US" sz="1060" dirty="0"/>
          </a:p>
        </p:txBody>
      </p:sp>
      <p:sp>
        <p:nvSpPr>
          <p:cNvPr id="42" name="Shape 40"/>
          <p:cNvSpPr/>
          <p:nvPr/>
        </p:nvSpPr>
        <p:spPr>
          <a:xfrm>
            <a:off x="6181344" y="4178808"/>
            <a:ext cx="5404104" cy="1938528"/>
          </a:xfrm>
          <a:prstGeom prst="roundRect">
            <a:avLst>
              <a:gd name="adj" fmla="val 3774"/>
            </a:avLst>
          </a:prstGeom>
          <a:solidFill>
            <a:srgbClr val="F3EEE1"/>
          </a:solidFill>
          <a:ln w="10160">
            <a:solidFill>
              <a:srgbClr val="F3EE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09944" y="4425696"/>
            <a:ext cx="438912" cy="438912"/>
          </a:xfrm>
          <a:prstGeom prst="ellipse">
            <a:avLst/>
          </a:prstGeom>
          <a:solidFill>
            <a:srgbClr val="D1A258"/>
          </a:solidFill>
          <a:ln w="12700">
            <a:solidFill>
              <a:srgbClr val="D1A25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409944" y="448970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986016" y="44805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00" dirty="0">
                <a:solidFill>
                  <a:srgbClr val="D1A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AMENAZAS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483096" y="4983480"/>
            <a:ext cx="82296" cy="82296"/>
          </a:xfrm>
          <a:prstGeom prst="ellipse">
            <a:avLst/>
          </a:prstGeom>
          <a:solidFill>
            <a:srgbClr val="D1A258"/>
          </a:solidFill>
          <a:ln w="12700">
            <a:solidFill>
              <a:srgbClr val="D1A258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647688" y="4892040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Competidores con referencias, ubicaciones o capacidades superiores.</a:t>
            </a:r>
            <a:endParaRPr lang="en-US" sz="1060" dirty="0"/>
          </a:p>
        </p:txBody>
      </p:sp>
      <p:sp>
        <p:nvSpPr>
          <p:cNvPr id="48" name="Shape 46"/>
          <p:cNvSpPr/>
          <p:nvPr/>
        </p:nvSpPr>
        <p:spPr>
          <a:xfrm>
            <a:off x="6483096" y="5239512"/>
            <a:ext cx="82296" cy="82296"/>
          </a:xfrm>
          <a:prstGeom prst="ellipse">
            <a:avLst/>
          </a:prstGeom>
          <a:solidFill>
            <a:srgbClr val="D1A258"/>
          </a:solidFill>
          <a:ln w="12700">
            <a:solidFill>
              <a:srgbClr val="D1A258">
                <a:alpha val="0"/>
              </a:srgbClr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647688" y="5148072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Cancelaciones, estacionalidad y ciclos largos de decisión.</a:t>
            </a:r>
            <a:endParaRPr lang="en-US" sz="1060" dirty="0"/>
          </a:p>
        </p:txBody>
      </p:sp>
      <p:sp>
        <p:nvSpPr>
          <p:cNvPr id="50" name="Shape 48"/>
          <p:cNvSpPr/>
          <p:nvPr/>
        </p:nvSpPr>
        <p:spPr>
          <a:xfrm>
            <a:off x="6483096" y="5495544"/>
            <a:ext cx="82296" cy="82296"/>
          </a:xfrm>
          <a:prstGeom prst="ellipse">
            <a:avLst/>
          </a:prstGeom>
          <a:solidFill>
            <a:srgbClr val="D1A258"/>
          </a:solidFill>
          <a:ln w="12700">
            <a:solidFill>
              <a:srgbClr val="D1A258">
                <a:alpha val="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647688" y="5404104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Fallas técnicas, seguridad, licencias o límites acústicos.</a:t>
            </a:r>
            <a:endParaRPr lang="en-US" sz="1060" dirty="0"/>
          </a:p>
        </p:txBody>
      </p:sp>
      <p:sp>
        <p:nvSpPr>
          <p:cNvPr id="52" name="Shape 50"/>
          <p:cNvSpPr/>
          <p:nvPr/>
        </p:nvSpPr>
        <p:spPr>
          <a:xfrm>
            <a:off x="6483096" y="5751576"/>
            <a:ext cx="82296" cy="82296"/>
          </a:xfrm>
          <a:prstGeom prst="ellipse">
            <a:avLst/>
          </a:prstGeom>
          <a:solidFill>
            <a:srgbClr val="D1A258"/>
          </a:solidFill>
          <a:ln w="12700">
            <a:solidFill>
              <a:srgbClr val="D1A258">
                <a:alpha val="0"/>
              </a:srgbClr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647688" y="5660136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Sobreprometer aforo o prestaciones no verificadas.</a:t>
            </a:r>
            <a:endParaRPr lang="en-US" sz="1060" dirty="0"/>
          </a:p>
        </p:txBody>
      </p:sp>
      <p:sp>
        <p:nvSpPr>
          <p:cNvPr id="54" name="Shape 52"/>
          <p:cNvSpPr/>
          <p:nvPr/>
        </p:nvSpPr>
        <p:spPr>
          <a:xfrm>
            <a:off x="594360" y="6519672"/>
            <a:ext cx="11000232" cy="0"/>
          </a:xfrm>
          <a:prstGeom prst="line">
            <a:avLst/>
          </a:prstGeom>
          <a:noFill/>
          <a:ln w="10160">
            <a:solidFill>
              <a:srgbClr val="D7D1C8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03504" y="658368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kern="0" spc="9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PORTAFOLIO ESTRATÉGICO V1.0</a:t>
            </a:r>
            <a:endParaRPr lang="en-US" sz="750" dirty="0"/>
          </a:p>
        </p:txBody>
      </p:sp>
      <p:sp>
        <p:nvSpPr>
          <p:cNvPr id="56" name="Text 54"/>
          <p:cNvSpPr txBox="1"/>
          <p:nvPr/>
        </p:nvSpPr>
        <p:spPr>
          <a:xfrm>
            <a:off x="3886200" y="6583680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kern="0" spc="90" dirty="0">
                <a:solidFill>
                  <a:srgbClr val="2F70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ICCM VENUE</a:t>
            </a:r>
            <a:endParaRPr lang="en-US" sz="750" dirty="0"/>
          </a:p>
        </p:txBody>
      </p:sp>
      <p:sp>
        <p:nvSpPr>
          <p:cNvPr id="57" name="Text 55"/>
          <p:cNvSpPr txBox="1"/>
          <p:nvPr/>
        </p:nvSpPr>
        <p:spPr>
          <a:xfrm>
            <a:off x="11119104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 name="Slide 19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38912"/>
            <a:ext cx="1316736" cy="329184"/>
          </a:xfrm>
          <a:prstGeom prst="roundRect">
            <a:avLst/>
          </a:prstGeom>
          <a:solidFill>
            <a:srgbClr val="2F708D"/>
          </a:solidFill>
          <a:ln w="7620">
            <a:solidFill>
              <a:srgbClr val="2F708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13232" y="5074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11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EJECUCIÓN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03504" y="877824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Prioridades V1.0 - ICCM Venue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1563624"/>
            <a:ext cx="10652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Transformar un espacio equipado en un producto comprensible, visitable y presupuestable.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3504" y="2029968"/>
            <a:ext cx="3493008" cy="2980944"/>
          </a:xfrm>
          <a:prstGeom prst="roundRect">
            <a:avLst>
              <a:gd name="adj" fmla="val 2454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2860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2F708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3317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2431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0-30 DÍAS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77824" y="2962656"/>
            <a:ext cx="82296" cy="82296"/>
          </a:xfrm>
          <a:prstGeom prst="ellipse">
            <a:avLst/>
          </a:prstGeom>
          <a:solidFill>
            <a:srgbClr val="2F708D"/>
          </a:solidFill>
          <a:ln w="12700">
            <a:solidFill>
              <a:srgbClr val="2F708D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42416" y="2871216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Auditar sala, capacidades, accesos e inventario técnico.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877824" y="3529584"/>
            <a:ext cx="82296" cy="82296"/>
          </a:xfrm>
          <a:prstGeom prst="ellipse">
            <a:avLst/>
          </a:prstGeom>
          <a:solidFill>
            <a:srgbClr val="2F708D"/>
          </a:solidFill>
          <a:ln w="12700">
            <a:solidFill>
              <a:srgbClr val="2F708D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42416" y="3438144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Definir eventos admitidos, límites y responsabilidades.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877824" y="4096512"/>
            <a:ext cx="82296" cy="82296"/>
          </a:xfrm>
          <a:prstGeom prst="ellipse">
            <a:avLst/>
          </a:prstGeom>
          <a:solidFill>
            <a:srgbClr val="2F708D"/>
          </a:solidFill>
          <a:ln w="12700">
            <a:solidFill>
              <a:srgbClr val="2F708D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42416" y="4005072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Diseñar paquetes y estructura base de precios.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4370832" y="2029968"/>
            <a:ext cx="3493008" cy="2980944"/>
          </a:xfrm>
          <a:prstGeom prst="roundRect">
            <a:avLst>
              <a:gd name="adj" fmla="val 2454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08576" y="22860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2F708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5276088" y="23317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2431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31-60 DÍAS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45152" y="2962656"/>
            <a:ext cx="82296" cy="82296"/>
          </a:xfrm>
          <a:prstGeom prst="ellipse">
            <a:avLst/>
          </a:prstGeom>
          <a:solidFill>
            <a:srgbClr val="2F708D"/>
          </a:solidFill>
          <a:ln w="12700">
            <a:solidFill>
              <a:srgbClr val="2F708D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09744" y="2871216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Crear dossier, web, visita virtual y formulario de briefing.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4645152" y="3529584"/>
            <a:ext cx="82296" cy="82296"/>
          </a:xfrm>
          <a:prstGeom prst="ellipse">
            <a:avLst/>
          </a:prstGeom>
          <a:solidFill>
            <a:srgbClr val="2F708D"/>
          </a:solidFill>
          <a:ln w="12700">
            <a:solidFill>
              <a:srgbClr val="2F708D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09744" y="3438144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Producir fotos y vídeos de la sala montada.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4645152" y="4096512"/>
            <a:ext cx="82296" cy="82296"/>
          </a:xfrm>
          <a:prstGeom prst="ellipse">
            <a:avLst/>
          </a:prstGeom>
          <a:solidFill>
            <a:srgbClr val="2F708D"/>
          </a:solidFill>
          <a:ln w="12700">
            <a:solidFill>
              <a:srgbClr val="2F708D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09744" y="4005072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Preparar contrato, checklist y proceso de presupuesto.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8138160" y="2029968"/>
            <a:ext cx="3493008" cy="2980944"/>
          </a:xfrm>
          <a:prstGeom prst="roundRect">
            <a:avLst>
              <a:gd name="adj" fmla="val 2454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75904" y="22860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2F708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03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9043416" y="23317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2431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61-90 DÍAS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412480" y="2962656"/>
            <a:ext cx="82296" cy="82296"/>
          </a:xfrm>
          <a:prstGeom prst="ellipse">
            <a:avLst/>
          </a:prstGeom>
          <a:solidFill>
            <a:srgbClr val="2F708D"/>
          </a:solidFill>
          <a:ln w="12700">
            <a:solidFill>
              <a:srgbClr val="2F708D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577072" y="2871216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Prospectar organizadores y activar visitas técnicas.</a:t>
            </a:r>
            <a:endParaRPr lang="en-US" sz="1180" dirty="0"/>
          </a:p>
        </p:txBody>
      </p:sp>
      <p:sp>
        <p:nvSpPr>
          <p:cNvPr id="29" name="Shape 27"/>
          <p:cNvSpPr/>
          <p:nvPr/>
        </p:nvSpPr>
        <p:spPr>
          <a:xfrm>
            <a:off x="8412480" y="3529584"/>
            <a:ext cx="82296" cy="82296"/>
          </a:xfrm>
          <a:prstGeom prst="ellipse">
            <a:avLst/>
          </a:prstGeom>
          <a:solidFill>
            <a:srgbClr val="2F708D"/>
          </a:solidFill>
          <a:ln w="12700">
            <a:solidFill>
              <a:srgbClr val="2F708D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577072" y="3438144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Realizar proyectos piloto con documentación profesional.</a:t>
            </a:r>
            <a:endParaRPr lang="en-US" sz="1180" dirty="0"/>
          </a:p>
        </p:txBody>
      </p:sp>
      <p:sp>
        <p:nvSpPr>
          <p:cNvPr id="31" name="Shape 29"/>
          <p:cNvSpPr/>
          <p:nvPr/>
        </p:nvSpPr>
        <p:spPr>
          <a:xfrm>
            <a:off x="8412480" y="4096512"/>
            <a:ext cx="82296" cy="82296"/>
          </a:xfrm>
          <a:prstGeom prst="ellipse">
            <a:avLst/>
          </a:prstGeom>
          <a:solidFill>
            <a:srgbClr val="2F708D"/>
          </a:solidFill>
          <a:ln w="12700">
            <a:solidFill>
              <a:srgbClr val="2F708D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577072" y="4005072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Convertir los primeros eventos en casos de estudio.</a:t>
            </a:r>
            <a:endParaRPr lang="en-US" sz="1180" dirty="0"/>
          </a:p>
        </p:txBody>
      </p:sp>
      <p:sp>
        <p:nvSpPr>
          <p:cNvPr id="33" name="Shape 31"/>
          <p:cNvSpPr/>
          <p:nvPr/>
        </p:nvSpPr>
        <p:spPr>
          <a:xfrm>
            <a:off x="603504" y="5266944"/>
            <a:ext cx="10981944" cy="658368"/>
          </a:xfrm>
          <a:prstGeom prst="roundRect">
            <a:avLst>
              <a:gd name="adj" fmla="val 11111"/>
            </a:avLst>
          </a:prstGeom>
          <a:solidFill>
            <a:srgbClr val="2F708D"/>
          </a:solidFill>
          <a:ln w="10160">
            <a:solidFill>
              <a:srgbClr val="2F708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41248" y="5458968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kern="0" spc="9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 A 12 MESES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2496312" y="5385816"/>
            <a:ext cx="4709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Un venue con oferta clara, pipeline y primeras referencias.</a:t>
            </a:r>
            <a:endParaRPr lang="en-US" sz="1450" dirty="0"/>
          </a:p>
        </p:txBody>
      </p:sp>
      <p:sp>
        <p:nvSpPr>
          <p:cNvPr id="36" name="Text 34"/>
          <p:cNvSpPr txBox="1"/>
          <p:nvPr/>
        </p:nvSpPr>
        <p:spPr>
          <a:xfrm>
            <a:off x="7488936" y="545896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kern="0" spc="9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EVIDENCIA MÍNIMA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8833104" y="5367528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Visitas técnicas, presupuestos, reservas y eventos sin incidencias.</a:t>
            </a:r>
            <a:endParaRPr lang="en-US" sz="1130" dirty="0"/>
          </a:p>
        </p:txBody>
      </p:sp>
      <p:sp>
        <p:nvSpPr>
          <p:cNvPr id="38" name="Shape 36"/>
          <p:cNvSpPr/>
          <p:nvPr/>
        </p:nvSpPr>
        <p:spPr>
          <a:xfrm>
            <a:off x="594360" y="6519672"/>
            <a:ext cx="11000232" cy="0"/>
          </a:xfrm>
          <a:prstGeom prst="line">
            <a:avLst/>
          </a:prstGeom>
          <a:noFill/>
          <a:ln w="10160">
            <a:solidFill>
              <a:srgbClr val="D7D1C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03504" y="658368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kern="0" spc="9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PORTAFOLIO ESTRATÉGICO V1.0</a:t>
            </a:r>
            <a:endParaRPr lang="en-US" sz="750" dirty="0"/>
          </a:p>
        </p:txBody>
      </p:sp>
      <p:sp>
        <p:nvSpPr>
          <p:cNvPr id="40" name="Text 38"/>
          <p:cNvSpPr txBox="1"/>
          <p:nvPr/>
        </p:nvSpPr>
        <p:spPr>
          <a:xfrm>
            <a:off x="3886200" y="6583680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kern="0" spc="90" dirty="0">
                <a:solidFill>
                  <a:srgbClr val="2F70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ICCM VENUE</a:t>
            </a:r>
            <a:endParaRPr lang="en-US" sz="750" dirty="0"/>
          </a:p>
        </p:txBody>
      </p:sp>
      <p:sp>
        <p:nvSpPr>
          <p:cNvPr id="41" name="Text 39"/>
          <p:cNvSpPr txBox="1"/>
          <p:nvPr/>
        </p:nvSpPr>
        <p:spPr>
          <a:xfrm>
            <a:off x="11119104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 name="Slide 20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38912"/>
            <a:ext cx="2121408" cy="329184"/>
          </a:xfrm>
          <a:prstGeom prst="roundRect">
            <a:avLst/>
          </a:prstGeom>
          <a:solidFill>
            <a:srgbClr val="C74444"/>
          </a:solidFill>
          <a:ln w="7620">
            <a:solidFill>
              <a:srgbClr val="C744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13232" y="50749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11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PRODUCCIÓN AUDIOVISUAL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03504" y="877824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Visual777.pt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1563624"/>
            <a:ext cx="10652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Oferta portuguesa de audio, iluminación, vídeo, streaming, grabación y producción técnica, apoyada en equipo y experiencia existentes.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3504" y="2029968"/>
            <a:ext cx="2926080" cy="1143000"/>
          </a:xfrm>
          <a:prstGeom prst="roundRect">
            <a:avLst>
              <a:gd name="adj" fmla="val 6400"/>
            </a:avLst>
          </a:prstGeom>
          <a:solidFill>
            <a:srgbClr val="C74444"/>
          </a:solidFill>
          <a:ln w="10160">
            <a:solidFill>
              <a:srgbClr val="C744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32104" y="225856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PAPEL EN EL PORTAFOLIO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832104" y="2532888"/>
            <a:ext cx="24688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Vender la ingeniería y ejecución técnica dentro y fuera del venue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03504" y="3364992"/>
            <a:ext cx="29260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" y="361188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kern="0" spc="100" dirty="0">
                <a:solidFill>
                  <a:srgbClr val="C7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PUNTO DE PARTIDA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41248" y="4023360"/>
            <a:ext cx="82296" cy="82296"/>
          </a:xfrm>
          <a:prstGeom prst="ellipse">
            <a:avLst/>
          </a:prstGeom>
          <a:solidFill>
            <a:srgbClr val="C74444"/>
          </a:solidFill>
          <a:ln w="12700">
            <a:solidFill>
              <a:srgbClr val="C74444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3931920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3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Hay equipo audiovisual y experiencia práctica.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841248" y="4416552"/>
            <a:ext cx="82296" cy="82296"/>
          </a:xfrm>
          <a:prstGeom prst="ellipse">
            <a:avLst/>
          </a:prstGeom>
          <a:solidFill>
            <a:srgbClr val="C74444"/>
          </a:solidFill>
          <a:ln w="12700">
            <a:solidFill>
              <a:srgbClr val="C74444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5840" y="4325112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3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existe todavía empresa comercial consolidada ni clientes propios.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841248" y="4809744"/>
            <a:ext cx="82296" cy="82296"/>
          </a:xfrm>
          <a:prstGeom prst="ellipse">
            <a:avLst/>
          </a:prstGeom>
          <a:solidFill>
            <a:srgbClr val="C74444"/>
          </a:solidFill>
          <a:ln w="12700">
            <a:solidFill>
              <a:srgbClr val="C74444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4718304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3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Falta portfolio portugués, oferta, proceso y captación.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841248" y="5202936"/>
            <a:ext cx="82296" cy="82296"/>
          </a:xfrm>
          <a:prstGeom prst="ellipse">
            <a:avLst/>
          </a:prstGeom>
          <a:solidFill>
            <a:srgbClr val="C74444"/>
          </a:solidFill>
          <a:ln w="12700">
            <a:solidFill>
              <a:srgbClr val="C74444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5111496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3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relación con Visual777 España debe quedar documentada.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3749040" y="2029968"/>
            <a:ext cx="3785616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05072" y="228600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kern="0" spc="100" dirty="0">
                <a:solidFill>
                  <a:srgbClr val="C7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VISIÓN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4005072" y="2578608"/>
            <a:ext cx="32552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Ser un socio audiovisual confiable en Portugal para convertir ideas y eventos en producciones técnicamente impecables.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744968" y="2029968"/>
            <a:ext cx="38404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01000" y="228600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kern="0" spc="100" dirty="0">
                <a:solidFill>
                  <a:srgbClr val="C7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MISIÓN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8001000" y="2578608"/>
            <a:ext cx="33101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1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Diseñar y operar soluciones de audio, iluminación, vídeo, streaming y grabación adaptadas al objetivo, escala y presupuesto de cada cliente.</a:t>
            </a:r>
            <a:endParaRPr lang="en-US" sz="1410" dirty="0"/>
          </a:p>
        </p:txBody>
      </p:sp>
      <p:sp>
        <p:nvSpPr>
          <p:cNvPr id="25" name="Shape 23"/>
          <p:cNvSpPr/>
          <p:nvPr/>
        </p:nvSpPr>
        <p:spPr>
          <a:xfrm>
            <a:off x="3749040" y="3858768"/>
            <a:ext cx="2395728" cy="1975104"/>
          </a:xfrm>
          <a:prstGeom prst="roundRect">
            <a:avLst>
              <a:gd name="adj" fmla="val 3704"/>
            </a:avLst>
          </a:prstGeom>
          <a:solidFill>
            <a:srgbClr val="FAF8F4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950208" y="4096512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0" b="1" kern="0" spc="90" dirty="0">
                <a:solidFill>
                  <a:srgbClr val="C7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 PRINCIPAL</a:t>
            </a:r>
            <a:endParaRPr lang="en-US" sz="820" dirty="0"/>
          </a:p>
        </p:txBody>
      </p:sp>
      <p:sp>
        <p:nvSpPr>
          <p:cNvPr id="27" name="Text 25"/>
          <p:cNvSpPr txBox="1"/>
          <p:nvPr/>
        </p:nvSpPr>
        <p:spPr>
          <a:xfrm>
            <a:off x="3950208" y="4443984"/>
            <a:ext cx="199339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3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Organizadores, empresas, artistas, venues y agencias.</a:t>
            </a:r>
            <a:endParaRPr lang="en-US" sz="1230" dirty="0"/>
          </a:p>
        </p:txBody>
      </p:sp>
      <p:sp>
        <p:nvSpPr>
          <p:cNvPr id="28" name="Shape 26"/>
          <p:cNvSpPr/>
          <p:nvPr/>
        </p:nvSpPr>
        <p:spPr>
          <a:xfrm>
            <a:off x="6373368" y="3858768"/>
            <a:ext cx="2395728" cy="1975104"/>
          </a:xfrm>
          <a:prstGeom prst="roundRect">
            <a:avLst>
              <a:gd name="adj" fmla="val 3704"/>
            </a:avLst>
          </a:prstGeom>
          <a:solidFill>
            <a:srgbClr val="FAF8F4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74536" y="4096512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0" b="1" kern="0" spc="90" dirty="0">
                <a:solidFill>
                  <a:srgbClr val="C7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PROMESA</a:t>
            </a:r>
            <a:endParaRPr lang="en-US" sz="820" dirty="0"/>
          </a:p>
        </p:txBody>
      </p:sp>
      <p:sp>
        <p:nvSpPr>
          <p:cNvPr id="30" name="Text 28"/>
          <p:cNvSpPr txBox="1"/>
          <p:nvPr/>
        </p:nvSpPr>
        <p:spPr>
          <a:xfrm>
            <a:off x="6574536" y="4443984"/>
            <a:ext cx="199339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30" b="1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Soluciones técnicas claras, bien preparadas y bien ejecutadas.</a:t>
            </a:r>
            <a:endParaRPr lang="en-US" sz="1230" dirty="0"/>
          </a:p>
        </p:txBody>
      </p:sp>
      <p:sp>
        <p:nvSpPr>
          <p:cNvPr id="31" name="Shape 29"/>
          <p:cNvSpPr/>
          <p:nvPr/>
        </p:nvSpPr>
        <p:spPr>
          <a:xfrm>
            <a:off x="8997696" y="3858768"/>
            <a:ext cx="2395728" cy="1975104"/>
          </a:xfrm>
          <a:prstGeom prst="roundRect">
            <a:avLst>
              <a:gd name="adj" fmla="val 3704"/>
            </a:avLst>
          </a:prstGeom>
          <a:solidFill>
            <a:srgbClr val="FAF8F4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98864" y="4096512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0" b="1" kern="0" spc="90" dirty="0">
                <a:solidFill>
                  <a:srgbClr val="C7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CONVERSIÓN</a:t>
            </a:r>
            <a:endParaRPr lang="en-US" sz="820" dirty="0"/>
          </a:p>
        </p:txBody>
      </p:sp>
      <p:sp>
        <p:nvSpPr>
          <p:cNvPr id="33" name="Text 31"/>
          <p:cNvSpPr txBox="1"/>
          <p:nvPr/>
        </p:nvSpPr>
        <p:spPr>
          <a:xfrm>
            <a:off x="9198864" y="4443984"/>
            <a:ext cx="199339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3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Enviar briefing, pedir visita técnica o solicitar presupuesto.</a:t>
            </a:r>
            <a:endParaRPr lang="en-US" sz="1230" dirty="0"/>
          </a:p>
        </p:txBody>
      </p:sp>
      <p:sp>
        <p:nvSpPr>
          <p:cNvPr id="34" name="Shape 32"/>
          <p:cNvSpPr/>
          <p:nvPr/>
        </p:nvSpPr>
        <p:spPr>
          <a:xfrm>
            <a:off x="594360" y="6519672"/>
            <a:ext cx="11000232" cy="0"/>
          </a:xfrm>
          <a:prstGeom prst="line">
            <a:avLst/>
          </a:prstGeom>
          <a:noFill/>
          <a:ln w="10160">
            <a:solidFill>
              <a:srgbClr val="D7D1C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03504" y="658368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kern="0" spc="9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PORTAFOLIO ESTRATÉGICO V1.0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3886200" y="6583680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kern="0" spc="90" dirty="0">
                <a:solidFill>
                  <a:srgbClr val="C7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VISUAL777.PT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11119104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 name="Slide 21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38912"/>
            <a:ext cx="1444752" cy="329184"/>
          </a:xfrm>
          <a:prstGeom prst="roundRect">
            <a:avLst/>
          </a:prstGeom>
          <a:solidFill>
            <a:srgbClr val="C74444"/>
          </a:solidFill>
          <a:ln w="7620">
            <a:solidFill>
              <a:srgbClr val="C744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13232" y="507492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11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DIAGNÓSTICO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03504" y="877824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DAFO - Visual777.pt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1563624"/>
            <a:ext cx="10652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Lectura pragmática del punto cero. No es un veredicto: es una lista de hipótesis que deben validarse con operación y datos.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3504" y="2011680"/>
            <a:ext cx="5404104" cy="1938528"/>
          </a:xfrm>
          <a:prstGeom prst="roundRect">
            <a:avLst>
              <a:gd name="adj" fmla="val 3774"/>
            </a:avLst>
          </a:prstGeom>
          <a:solidFill>
            <a:srgbClr val="E8F0EA"/>
          </a:solidFill>
          <a:ln w="10160">
            <a:solidFill>
              <a:srgbClr val="E8F0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" y="2258568"/>
            <a:ext cx="438912" cy="438912"/>
          </a:xfrm>
          <a:prstGeom prst="ellipse">
            <a:avLst/>
          </a:prstGeom>
          <a:solidFill>
            <a:srgbClr val="50735F"/>
          </a:solidFill>
          <a:ln w="12700">
            <a:solidFill>
              <a:srgbClr val="5073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32104" y="232257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408176" y="23134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00" dirty="0">
                <a:solidFill>
                  <a:srgbClr val="5073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FORTALEZAS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05256" y="2816352"/>
            <a:ext cx="82296" cy="82296"/>
          </a:xfrm>
          <a:prstGeom prst="ellipse">
            <a:avLst/>
          </a:prstGeom>
          <a:solidFill>
            <a:srgbClr val="50735F"/>
          </a:solidFill>
          <a:ln w="12700">
            <a:solidFill>
              <a:srgbClr val="50735F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9848" y="2724912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Equipamiento y experiencia operativa ya disponibles.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905256" y="3072384"/>
            <a:ext cx="82296" cy="82296"/>
          </a:xfrm>
          <a:prstGeom prst="ellipse">
            <a:avLst/>
          </a:prstGeom>
          <a:solidFill>
            <a:srgbClr val="50735F"/>
          </a:solidFill>
          <a:ln w="12700">
            <a:solidFill>
              <a:srgbClr val="50735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69848" y="2980944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Capacidad de integrar varias disciplinas técnicas.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905256" y="3328416"/>
            <a:ext cx="82296" cy="82296"/>
          </a:xfrm>
          <a:prstGeom prst="ellipse">
            <a:avLst/>
          </a:prstGeom>
          <a:solidFill>
            <a:srgbClr val="50735F"/>
          </a:solidFill>
          <a:ln w="12700">
            <a:solidFill>
              <a:srgbClr val="50735F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69848" y="3236976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ICCM Venue permite crear demostraciones y paquetes completos.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905256" y="3584448"/>
            <a:ext cx="82296" cy="82296"/>
          </a:xfrm>
          <a:prstGeom prst="ellipse">
            <a:avLst/>
          </a:prstGeom>
          <a:solidFill>
            <a:srgbClr val="50735F"/>
          </a:solidFill>
          <a:ln w="12700">
            <a:solidFill>
              <a:srgbClr val="50735F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69848" y="3493008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Referencia conceptual y know-how de Visual777 España.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6181344" y="2011680"/>
            <a:ext cx="5404104" cy="1938528"/>
          </a:xfrm>
          <a:prstGeom prst="roundRect">
            <a:avLst>
              <a:gd name="adj" fmla="val 3774"/>
            </a:avLst>
          </a:prstGeom>
          <a:solidFill>
            <a:srgbClr val="F4E8E4"/>
          </a:solidFill>
          <a:ln w="10160">
            <a:solidFill>
              <a:srgbClr val="F4E8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9944" y="2258568"/>
            <a:ext cx="438912" cy="438912"/>
          </a:xfrm>
          <a:prstGeom prst="ellipse">
            <a:avLst/>
          </a:prstGeom>
          <a:solidFill>
            <a:srgbClr val="B6534C"/>
          </a:solidFill>
          <a:ln w="12700">
            <a:solidFill>
              <a:srgbClr val="B6534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9944" y="232257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986016" y="23134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00" dirty="0">
                <a:solidFill>
                  <a:srgbClr val="B653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DEBILIDADES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83096" y="2816352"/>
            <a:ext cx="82296" cy="82296"/>
          </a:xfrm>
          <a:prstGeom prst="ellipse">
            <a:avLst/>
          </a:prstGeom>
          <a:solidFill>
            <a:srgbClr val="B6534C"/>
          </a:solidFill>
          <a:ln w="12700">
            <a:solidFill>
              <a:srgbClr val="B6534C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47688" y="2724912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base estable de clientes ni referencias portuguesas.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6483096" y="3072384"/>
            <a:ext cx="82296" cy="82296"/>
          </a:xfrm>
          <a:prstGeom prst="ellipse">
            <a:avLst/>
          </a:prstGeom>
          <a:solidFill>
            <a:srgbClr val="B6534C"/>
          </a:solidFill>
          <a:ln w="12700">
            <a:solidFill>
              <a:srgbClr val="B6534C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47688" y="2980944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Oferta y capacidades aún no convertidas en productos comerciales.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6483096" y="3328416"/>
            <a:ext cx="82296" cy="82296"/>
          </a:xfrm>
          <a:prstGeom prst="ellipse">
            <a:avLst/>
          </a:prstGeom>
          <a:solidFill>
            <a:srgbClr val="B6534C"/>
          </a:solidFill>
          <a:ln w="12700">
            <a:solidFill>
              <a:srgbClr val="B6534C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47688" y="3236976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Dependencia de disponibilidad de equipo y personal.</a:t>
            </a:r>
            <a:endParaRPr lang="en-US" sz="1060" dirty="0"/>
          </a:p>
        </p:txBody>
      </p:sp>
      <p:sp>
        <p:nvSpPr>
          <p:cNvPr id="28" name="Shape 26"/>
          <p:cNvSpPr/>
          <p:nvPr/>
        </p:nvSpPr>
        <p:spPr>
          <a:xfrm>
            <a:off x="6483096" y="3584448"/>
            <a:ext cx="82296" cy="82296"/>
          </a:xfrm>
          <a:prstGeom prst="ellipse">
            <a:avLst/>
          </a:prstGeom>
          <a:solidFill>
            <a:srgbClr val="B6534C"/>
          </a:solidFill>
          <a:ln w="12700">
            <a:solidFill>
              <a:srgbClr val="B6534C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47688" y="3493008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Derechos de marca, portfolio e imágenes por formalizar.</a:t>
            </a:r>
            <a:endParaRPr lang="en-US" sz="1060" dirty="0"/>
          </a:p>
        </p:txBody>
      </p:sp>
      <p:sp>
        <p:nvSpPr>
          <p:cNvPr id="30" name="Shape 28"/>
          <p:cNvSpPr/>
          <p:nvPr/>
        </p:nvSpPr>
        <p:spPr>
          <a:xfrm>
            <a:off x="603504" y="4178808"/>
            <a:ext cx="5404104" cy="1938528"/>
          </a:xfrm>
          <a:prstGeom prst="roundRect">
            <a:avLst>
              <a:gd name="adj" fmla="val 3774"/>
            </a:avLst>
          </a:prstGeom>
          <a:solidFill>
            <a:srgbClr val="E7EEF1"/>
          </a:solidFill>
          <a:ln w="10160">
            <a:solidFill>
              <a:srgbClr val="E7EEF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2104" y="4425696"/>
            <a:ext cx="438912" cy="438912"/>
          </a:xfrm>
          <a:prstGeom prst="ellipse">
            <a:avLst/>
          </a:prstGeom>
          <a:solidFill>
            <a:srgbClr val="3C7088"/>
          </a:solidFill>
          <a:ln w="12700">
            <a:solidFill>
              <a:srgbClr val="3C708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32104" y="448970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408176" y="44805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00" dirty="0">
                <a:solidFill>
                  <a:srgbClr val="3C70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OPORTUNIDADES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05256" y="4983480"/>
            <a:ext cx="82296" cy="82296"/>
          </a:xfrm>
          <a:prstGeom prst="ellipse">
            <a:avLst/>
          </a:prstGeom>
          <a:solidFill>
            <a:srgbClr val="3C7088"/>
          </a:solidFill>
          <a:ln w="12700">
            <a:solidFill>
              <a:srgbClr val="3C7088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69848" y="4892040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Eventos corporativos, conciertos, streaming y grabación.</a:t>
            </a:r>
            <a:endParaRPr lang="en-US" sz="1060" dirty="0"/>
          </a:p>
        </p:txBody>
      </p:sp>
      <p:sp>
        <p:nvSpPr>
          <p:cNvPr id="36" name="Shape 34"/>
          <p:cNvSpPr/>
          <p:nvPr/>
        </p:nvSpPr>
        <p:spPr>
          <a:xfrm>
            <a:off x="905256" y="5239512"/>
            <a:ext cx="82296" cy="82296"/>
          </a:xfrm>
          <a:prstGeom prst="ellipse">
            <a:avLst/>
          </a:prstGeom>
          <a:solidFill>
            <a:srgbClr val="3C7088"/>
          </a:solidFill>
          <a:ln w="12700">
            <a:solidFill>
              <a:srgbClr val="3C7088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69848" y="5148072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Subcontratación para agencias, venues y productores.</a:t>
            </a:r>
            <a:endParaRPr lang="en-US" sz="1060" dirty="0"/>
          </a:p>
        </p:txBody>
      </p:sp>
      <p:sp>
        <p:nvSpPr>
          <p:cNvPr id="38" name="Shape 36"/>
          <p:cNvSpPr/>
          <p:nvPr/>
        </p:nvSpPr>
        <p:spPr>
          <a:xfrm>
            <a:off x="905256" y="5495544"/>
            <a:ext cx="82296" cy="82296"/>
          </a:xfrm>
          <a:prstGeom prst="ellipse">
            <a:avLst/>
          </a:prstGeom>
          <a:solidFill>
            <a:srgbClr val="3C7088"/>
          </a:solidFill>
          <a:ln w="12700">
            <a:solidFill>
              <a:srgbClr val="3C7088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69848" y="5404104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Paquetes integrados con ICCM Venue.</a:t>
            </a:r>
            <a:endParaRPr lang="en-US" sz="1060" dirty="0"/>
          </a:p>
        </p:txBody>
      </p:sp>
      <p:sp>
        <p:nvSpPr>
          <p:cNvPr id="40" name="Shape 38"/>
          <p:cNvSpPr/>
          <p:nvPr/>
        </p:nvSpPr>
        <p:spPr>
          <a:xfrm>
            <a:off x="905256" y="5751576"/>
            <a:ext cx="82296" cy="82296"/>
          </a:xfrm>
          <a:prstGeom prst="ellipse">
            <a:avLst/>
          </a:prstGeom>
          <a:solidFill>
            <a:srgbClr val="3C7088"/>
          </a:solidFill>
          <a:ln w="12700">
            <a:solidFill>
              <a:srgbClr val="3C7088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69848" y="5660136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Contenido técnico que demuestra capacidad y genera confianza.</a:t>
            </a:r>
            <a:endParaRPr lang="en-US" sz="1060" dirty="0"/>
          </a:p>
        </p:txBody>
      </p:sp>
      <p:sp>
        <p:nvSpPr>
          <p:cNvPr id="42" name="Shape 40"/>
          <p:cNvSpPr/>
          <p:nvPr/>
        </p:nvSpPr>
        <p:spPr>
          <a:xfrm>
            <a:off x="6181344" y="4178808"/>
            <a:ext cx="5404104" cy="1938528"/>
          </a:xfrm>
          <a:prstGeom prst="roundRect">
            <a:avLst>
              <a:gd name="adj" fmla="val 3774"/>
            </a:avLst>
          </a:prstGeom>
          <a:solidFill>
            <a:srgbClr val="F3EEE1"/>
          </a:solidFill>
          <a:ln w="10160">
            <a:solidFill>
              <a:srgbClr val="F3EE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09944" y="4425696"/>
            <a:ext cx="438912" cy="438912"/>
          </a:xfrm>
          <a:prstGeom prst="ellipse">
            <a:avLst/>
          </a:prstGeom>
          <a:solidFill>
            <a:srgbClr val="D1A258"/>
          </a:solidFill>
          <a:ln w="12700">
            <a:solidFill>
              <a:srgbClr val="D1A25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409944" y="448970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986016" y="448056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00" dirty="0">
                <a:solidFill>
                  <a:srgbClr val="D1A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AMENAZAS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483096" y="4983480"/>
            <a:ext cx="82296" cy="82296"/>
          </a:xfrm>
          <a:prstGeom prst="ellipse">
            <a:avLst/>
          </a:prstGeom>
          <a:solidFill>
            <a:srgbClr val="D1A258"/>
          </a:solidFill>
          <a:ln w="12700">
            <a:solidFill>
              <a:srgbClr val="D1A258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647688" y="4892040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Competencia de productoras establecidas y freelancers de bajo precio.</a:t>
            </a:r>
            <a:endParaRPr lang="en-US" sz="1060" dirty="0"/>
          </a:p>
        </p:txBody>
      </p:sp>
      <p:sp>
        <p:nvSpPr>
          <p:cNvPr id="48" name="Shape 46"/>
          <p:cNvSpPr/>
          <p:nvPr/>
        </p:nvSpPr>
        <p:spPr>
          <a:xfrm>
            <a:off x="6483096" y="5239512"/>
            <a:ext cx="82296" cy="82296"/>
          </a:xfrm>
          <a:prstGeom prst="ellipse">
            <a:avLst/>
          </a:prstGeom>
          <a:solidFill>
            <a:srgbClr val="D1A258"/>
          </a:solidFill>
          <a:ln w="12700">
            <a:solidFill>
              <a:srgbClr val="D1A258">
                <a:alpha val="0"/>
              </a:srgbClr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647688" y="5148072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Riesgo técnico y contractual en proyectos complejos.</a:t>
            </a:r>
            <a:endParaRPr lang="en-US" sz="1060" dirty="0"/>
          </a:p>
        </p:txBody>
      </p:sp>
      <p:sp>
        <p:nvSpPr>
          <p:cNvPr id="50" name="Shape 48"/>
          <p:cNvSpPr/>
          <p:nvPr/>
        </p:nvSpPr>
        <p:spPr>
          <a:xfrm>
            <a:off x="6483096" y="5495544"/>
            <a:ext cx="82296" cy="82296"/>
          </a:xfrm>
          <a:prstGeom prst="ellipse">
            <a:avLst/>
          </a:prstGeom>
          <a:solidFill>
            <a:srgbClr val="D1A258"/>
          </a:solidFill>
          <a:ln w="12700">
            <a:solidFill>
              <a:srgbClr val="D1A258">
                <a:alpha val="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647688" y="5404104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Coste de mantenimiento, transporte y actualización de equipos.</a:t>
            </a:r>
            <a:endParaRPr lang="en-US" sz="1060" dirty="0"/>
          </a:p>
        </p:txBody>
      </p:sp>
      <p:sp>
        <p:nvSpPr>
          <p:cNvPr id="52" name="Shape 50"/>
          <p:cNvSpPr/>
          <p:nvPr/>
        </p:nvSpPr>
        <p:spPr>
          <a:xfrm>
            <a:off x="6483096" y="5751576"/>
            <a:ext cx="82296" cy="82296"/>
          </a:xfrm>
          <a:prstGeom prst="ellipse">
            <a:avLst/>
          </a:prstGeom>
          <a:solidFill>
            <a:srgbClr val="D1A258"/>
          </a:solidFill>
          <a:ln w="12700">
            <a:solidFill>
              <a:srgbClr val="D1A258">
                <a:alpha val="0"/>
              </a:srgbClr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647688" y="5660136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Flujo de caja irregular y anticipos insuficientes.</a:t>
            </a:r>
            <a:endParaRPr lang="en-US" sz="1060" dirty="0"/>
          </a:p>
        </p:txBody>
      </p:sp>
      <p:sp>
        <p:nvSpPr>
          <p:cNvPr id="54" name="Shape 52"/>
          <p:cNvSpPr/>
          <p:nvPr/>
        </p:nvSpPr>
        <p:spPr>
          <a:xfrm>
            <a:off x="594360" y="6519672"/>
            <a:ext cx="11000232" cy="0"/>
          </a:xfrm>
          <a:prstGeom prst="line">
            <a:avLst/>
          </a:prstGeom>
          <a:noFill/>
          <a:ln w="10160">
            <a:solidFill>
              <a:srgbClr val="D7D1C8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03504" y="658368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kern="0" spc="9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PORTAFOLIO ESTRATÉGICO V1.0</a:t>
            </a:r>
            <a:endParaRPr lang="en-US" sz="750" dirty="0"/>
          </a:p>
        </p:txBody>
      </p:sp>
      <p:sp>
        <p:nvSpPr>
          <p:cNvPr id="56" name="Text 54"/>
          <p:cNvSpPr txBox="1"/>
          <p:nvPr/>
        </p:nvSpPr>
        <p:spPr>
          <a:xfrm>
            <a:off x="3886200" y="6583680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kern="0" spc="90" dirty="0">
                <a:solidFill>
                  <a:srgbClr val="C7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VISUAL777.PT</a:t>
            </a:r>
            <a:endParaRPr lang="en-US" sz="750" dirty="0"/>
          </a:p>
        </p:txBody>
      </p:sp>
      <p:sp>
        <p:nvSpPr>
          <p:cNvPr id="57" name="Text 55"/>
          <p:cNvSpPr txBox="1"/>
          <p:nvPr/>
        </p:nvSpPr>
        <p:spPr>
          <a:xfrm>
            <a:off x="11119104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 name="Slide 22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38912"/>
            <a:ext cx="1316736" cy="329184"/>
          </a:xfrm>
          <a:prstGeom prst="roundRect">
            <a:avLst/>
          </a:prstGeom>
          <a:solidFill>
            <a:srgbClr val="C74444"/>
          </a:solidFill>
          <a:ln w="7620">
            <a:solidFill>
              <a:srgbClr val="C744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13232" y="5074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11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EJECUCIÓN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03504" y="877824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Prioridades V1.0 - Visual777.pt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1563624"/>
            <a:ext cx="10652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Convertir experiencia y equipamiento en una oferta local vendible, con referencias y proceso comercial profesional.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3504" y="2029968"/>
            <a:ext cx="3493008" cy="2980944"/>
          </a:xfrm>
          <a:prstGeom prst="roundRect">
            <a:avLst>
              <a:gd name="adj" fmla="val 2454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2860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C744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3317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2431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0-30 DÍAS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77824" y="2962656"/>
            <a:ext cx="82296" cy="82296"/>
          </a:xfrm>
          <a:prstGeom prst="ellipse">
            <a:avLst/>
          </a:prstGeom>
          <a:solidFill>
            <a:srgbClr val="C74444"/>
          </a:solidFill>
          <a:ln w="12700">
            <a:solidFill>
              <a:srgbClr val="C74444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42416" y="2871216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Confirmar marca, derechos, cobertura y estructura legal.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877824" y="3529584"/>
            <a:ext cx="82296" cy="82296"/>
          </a:xfrm>
          <a:prstGeom prst="ellipse">
            <a:avLst/>
          </a:prstGeom>
          <a:solidFill>
            <a:srgbClr val="C74444"/>
          </a:solidFill>
          <a:ln w="12700">
            <a:solidFill>
              <a:srgbClr val="C74444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42416" y="3438144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Inventariar equipos, capacidades, límites y costes.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877824" y="4096512"/>
            <a:ext cx="82296" cy="82296"/>
          </a:xfrm>
          <a:prstGeom prst="ellipse">
            <a:avLst/>
          </a:prstGeom>
          <a:solidFill>
            <a:srgbClr val="C74444"/>
          </a:solidFill>
          <a:ln w="12700">
            <a:solidFill>
              <a:srgbClr val="C74444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42416" y="4005072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Definir servicios, cliente ideal y política de presupuesto.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4370832" y="2029968"/>
            <a:ext cx="3493008" cy="2980944"/>
          </a:xfrm>
          <a:prstGeom prst="roundRect">
            <a:avLst>
              <a:gd name="adj" fmla="val 2454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08576" y="22860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C744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5276088" y="23317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2431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31-60 DÍAS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45152" y="2962656"/>
            <a:ext cx="82296" cy="82296"/>
          </a:xfrm>
          <a:prstGeom prst="ellipse">
            <a:avLst/>
          </a:prstGeom>
          <a:solidFill>
            <a:srgbClr val="C74444"/>
          </a:solidFill>
          <a:ln w="12700">
            <a:solidFill>
              <a:srgbClr val="C74444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09744" y="2871216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Crear web, dossier, formularios y plantillas de propuesta.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4645152" y="3529584"/>
            <a:ext cx="82296" cy="82296"/>
          </a:xfrm>
          <a:prstGeom prst="ellipse">
            <a:avLst/>
          </a:prstGeom>
          <a:solidFill>
            <a:srgbClr val="C74444"/>
          </a:solidFill>
          <a:ln w="12700">
            <a:solidFill>
              <a:srgbClr val="C74444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09744" y="3438144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Producir portfolio demostrativo y casos técnicos.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4645152" y="4096512"/>
            <a:ext cx="82296" cy="82296"/>
          </a:xfrm>
          <a:prstGeom prst="ellipse">
            <a:avLst/>
          </a:prstGeom>
          <a:solidFill>
            <a:srgbClr val="C74444"/>
          </a:solidFill>
          <a:ln w="12700">
            <a:solidFill>
              <a:srgbClr val="C74444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09744" y="4005072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Preparar paquetes con ICCM Venue y oferta externa.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8138160" y="2029968"/>
            <a:ext cx="3493008" cy="2980944"/>
          </a:xfrm>
          <a:prstGeom prst="roundRect">
            <a:avLst>
              <a:gd name="adj" fmla="val 2454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75904" y="22860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C7444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03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9043416" y="23317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2431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61-90 DÍAS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412480" y="2962656"/>
            <a:ext cx="82296" cy="82296"/>
          </a:xfrm>
          <a:prstGeom prst="ellipse">
            <a:avLst/>
          </a:prstGeom>
          <a:solidFill>
            <a:srgbClr val="C74444"/>
          </a:solidFill>
          <a:ln w="12700">
            <a:solidFill>
              <a:srgbClr val="C74444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577072" y="2871216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Prospectar agencias, empresas, artistas y venues.</a:t>
            </a:r>
            <a:endParaRPr lang="en-US" sz="1180" dirty="0"/>
          </a:p>
        </p:txBody>
      </p:sp>
      <p:sp>
        <p:nvSpPr>
          <p:cNvPr id="29" name="Shape 27"/>
          <p:cNvSpPr/>
          <p:nvPr/>
        </p:nvSpPr>
        <p:spPr>
          <a:xfrm>
            <a:off x="8412480" y="3529584"/>
            <a:ext cx="82296" cy="82296"/>
          </a:xfrm>
          <a:prstGeom prst="ellipse">
            <a:avLst/>
          </a:prstGeom>
          <a:solidFill>
            <a:srgbClr val="C74444"/>
          </a:solidFill>
          <a:ln w="12700">
            <a:solidFill>
              <a:srgbClr val="C74444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577072" y="3438144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Ejecutar proyectos piloto con buen margen y documentación.</a:t>
            </a:r>
            <a:endParaRPr lang="en-US" sz="1180" dirty="0"/>
          </a:p>
        </p:txBody>
      </p:sp>
      <p:sp>
        <p:nvSpPr>
          <p:cNvPr id="31" name="Shape 29"/>
          <p:cNvSpPr/>
          <p:nvPr/>
        </p:nvSpPr>
        <p:spPr>
          <a:xfrm>
            <a:off x="8412480" y="4096512"/>
            <a:ext cx="82296" cy="82296"/>
          </a:xfrm>
          <a:prstGeom prst="ellipse">
            <a:avLst/>
          </a:prstGeom>
          <a:solidFill>
            <a:srgbClr val="C74444"/>
          </a:solidFill>
          <a:ln w="12700">
            <a:solidFill>
              <a:srgbClr val="C74444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577072" y="4005072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Construir referencias, testimonios y pipeline recurrente.</a:t>
            </a:r>
            <a:endParaRPr lang="en-US" sz="1180" dirty="0"/>
          </a:p>
        </p:txBody>
      </p:sp>
      <p:sp>
        <p:nvSpPr>
          <p:cNvPr id="33" name="Shape 31"/>
          <p:cNvSpPr/>
          <p:nvPr/>
        </p:nvSpPr>
        <p:spPr>
          <a:xfrm>
            <a:off x="603504" y="5266944"/>
            <a:ext cx="10981944" cy="658368"/>
          </a:xfrm>
          <a:prstGeom prst="roundRect">
            <a:avLst>
              <a:gd name="adj" fmla="val 11111"/>
            </a:avLst>
          </a:prstGeom>
          <a:solidFill>
            <a:srgbClr val="C74444"/>
          </a:solidFill>
          <a:ln w="10160">
            <a:solidFill>
              <a:srgbClr val="C7444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41248" y="5458968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kern="0" spc="9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 A 12 MESES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2496312" y="5385816"/>
            <a:ext cx="4709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Una productora local con oferta, referencias y primeros clientes ancla.</a:t>
            </a:r>
            <a:endParaRPr lang="en-US" sz="1450" dirty="0"/>
          </a:p>
        </p:txBody>
      </p:sp>
      <p:sp>
        <p:nvSpPr>
          <p:cNvPr id="36" name="Text 34"/>
          <p:cNvSpPr txBox="1"/>
          <p:nvPr/>
        </p:nvSpPr>
        <p:spPr>
          <a:xfrm>
            <a:off x="7488936" y="545896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kern="0" spc="9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EVIDENCIA MÍNIMA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8833104" y="5367528"/>
            <a:ext cx="2450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Briefings, propuestas, tasa de cierre, margen y casos publicados.</a:t>
            </a:r>
            <a:endParaRPr lang="en-US" sz="1130" dirty="0"/>
          </a:p>
        </p:txBody>
      </p:sp>
      <p:sp>
        <p:nvSpPr>
          <p:cNvPr id="38" name="Shape 36"/>
          <p:cNvSpPr/>
          <p:nvPr/>
        </p:nvSpPr>
        <p:spPr>
          <a:xfrm>
            <a:off x="594360" y="6519672"/>
            <a:ext cx="11000232" cy="0"/>
          </a:xfrm>
          <a:prstGeom prst="line">
            <a:avLst/>
          </a:prstGeom>
          <a:noFill/>
          <a:ln w="10160">
            <a:solidFill>
              <a:srgbClr val="D7D1C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03504" y="658368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kern="0" spc="9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PORTAFOLIO ESTRATÉGICO V1.0</a:t>
            </a:r>
            <a:endParaRPr lang="en-US" sz="750" dirty="0"/>
          </a:p>
        </p:txBody>
      </p:sp>
      <p:sp>
        <p:nvSpPr>
          <p:cNvPr id="40" name="Text 38"/>
          <p:cNvSpPr txBox="1"/>
          <p:nvPr/>
        </p:nvSpPr>
        <p:spPr>
          <a:xfrm>
            <a:off x="3886200" y="6583680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kern="0" spc="90" dirty="0">
                <a:solidFill>
                  <a:srgbClr val="C7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VISUAL777.PT</a:t>
            </a:r>
            <a:endParaRPr lang="en-US" sz="750" dirty="0"/>
          </a:p>
        </p:txBody>
      </p:sp>
      <p:sp>
        <p:nvSpPr>
          <p:cNvPr id="41" name="Text 39"/>
          <p:cNvSpPr txBox="1"/>
          <p:nvPr/>
        </p:nvSpPr>
        <p:spPr>
          <a:xfrm>
            <a:off x="11119104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 name="Slide 23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38912"/>
            <a:ext cx="1389888" cy="329184"/>
          </a:xfrm>
          <a:prstGeom prst="roundRect">
            <a:avLst/>
          </a:prstGeom>
          <a:solidFill>
            <a:srgbClr val="D1A258"/>
          </a:solidFill>
          <a:ln w="7620">
            <a:solidFill>
              <a:srgbClr val="D1A25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13232" y="507492"/>
            <a:ext cx="1170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11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REBRANDING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03504" y="877824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Separar nuevo y usado sin romper la operación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1563624"/>
            <a:ext cx="10652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Hoy conviven en las tiendas. La separación debe empezar en la experiencia del cliente y luego reforzarse con la futura tienda exclusiva de nuevo.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3504" y="1993392"/>
            <a:ext cx="5084064" cy="3310128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" y="1993392"/>
            <a:ext cx="5084064" cy="164592"/>
          </a:xfrm>
          <a:prstGeom prst="rect">
            <a:avLst/>
          </a:prstGeom>
          <a:solidFill>
            <a:srgbClr val="C56D4B"/>
          </a:solidFill>
          <a:ln w="12700">
            <a:solidFill>
              <a:srgbClr val="C56D4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237744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ALLMOVEIS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352544" y="2423160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b="1" kern="0" spc="100" dirty="0">
                <a:solidFill>
                  <a:srgbClr val="C56D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NUEVO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905256" y="3017520"/>
            <a:ext cx="82296" cy="82296"/>
          </a:xfrm>
          <a:prstGeom prst="ellipse">
            <a:avLst/>
          </a:prstGeom>
          <a:solidFill>
            <a:srgbClr val="C56D4B"/>
          </a:solidFill>
          <a:ln w="12700">
            <a:solidFill>
              <a:srgbClr val="C56D4B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9848" y="2926080"/>
            <a:ext cx="4133088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2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Zona, etiquetas y comunicación propias.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905256" y="3417570"/>
            <a:ext cx="82296" cy="82296"/>
          </a:xfrm>
          <a:prstGeom prst="ellipse">
            <a:avLst/>
          </a:prstGeom>
          <a:solidFill>
            <a:srgbClr val="C56D4B"/>
          </a:solidFill>
          <a:ln w="12700">
            <a:solidFill>
              <a:srgbClr val="C56D4B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69848" y="3326130"/>
            <a:ext cx="4133088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2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Información estable: modelo, medidas, pedido y entrega.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905256" y="3817620"/>
            <a:ext cx="82296" cy="82296"/>
          </a:xfrm>
          <a:prstGeom prst="ellipse">
            <a:avLst/>
          </a:prstGeom>
          <a:solidFill>
            <a:srgbClr val="C56D4B"/>
          </a:solidFill>
          <a:ln w="12700">
            <a:solidFill>
              <a:srgbClr val="C56D4B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69848" y="3726180"/>
            <a:ext cx="4133088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2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Contenido de inspiración, comparación y compra.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905256" y="4217670"/>
            <a:ext cx="82296" cy="82296"/>
          </a:xfrm>
          <a:prstGeom prst="ellipse">
            <a:avLst/>
          </a:prstGeom>
          <a:solidFill>
            <a:srgbClr val="C56D4B"/>
          </a:solidFill>
          <a:ln w="12700">
            <a:solidFill>
              <a:srgbClr val="C56D4B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69848" y="4126230"/>
            <a:ext cx="4133088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2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Futura tienda exclusiva consolida la promesa.</a:t>
            </a:r>
            <a:endParaRPr lang="en-US" sz="122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727448"/>
            <a:ext cx="1344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0" b="1" kern="0" spc="70" dirty="0">
                <a:solidFill>
                  <a:srgbClr val="C56D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Pregunta que responde</a:t>
            </a:r>
            <a:endParaRPr lang="en-US" sz="820" dirty="0"/>
          </a:p>
        </p:txBody>
      </p:sp>
      <p:sp>
        <p:nvSpPr>
          <p:cNvPr id="19" name="Text 17"/>
          <p:cNvSpPr txBox="1"/>
          <p:nvPr/>
        </p:nvSpPr>
        <p:spPr>
          <a:xfrm>
            <a:off x="2331720" y="46634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“¿Qué necesito para amueblar mi casa?”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01384" y="1993392"/>
            <a:ext cx="5084064" cy="3310128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01384" y="1993392"/>
            <a:ext cx="5084064" cy="164592"/>
          </a:xfrm>
          <a:prstGeom prst="rect">
            <a:avLst/>
          </a:prstGeom>
          <a:solidFill>
            <a:srgbClr val="7F8B58"/>
          </a:solidFill>
          <a:ln w="12700">
            <a:solidFill>
              <a:srgbClr val="7F8B5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93992" y="237744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SECONDCHANCE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9756648" y="2423160"/>
            <a:ext cx="1399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20" b="1" kern="0" spc="75" dirty="0">
                <a:solidFill>
                  <a:srgbClr val="7F8B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USADO / OPORTUNIDAD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6803136" y="3017520"/>
            <a:ext cx="82296" cy="82296"/>
          </a:xfrm>
          <a:prstGeom prst="ellipse">
            <a:avLst/>
          </a:prstGeom>
          <a:solidFill>
            <a:srgbClr val="7F8B58"/>
          </a:solidFill>
          <a:ln w="12700">
            <a:solidFill>
              <a:srgbClr val="7F8B58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67728" y="2926080"/>
            <a:ext cx="4133088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2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Zona, etiquetas y señalética con identidad propia.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6803136" y="3417570"/>
            <a:ext cx="82296" cy="82296"/>
          </a:xfrm>
          <a:prstGeom prst="ellipse">
            <a:avLst/>
          </a:prstGeom>
          <a:solidFill>
            <a:srgbClr val="7F8B58"/>
          </a:solidFill>
          <a:ln w="12700">
            <a:solidFill>
              <a:srgbClr val="7F8B58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67728" y="3326130"/>
            <a:ext cx="4133088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2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Rotación visible y disponibilidad no garantizada.</a:t>
            </a:r>
            <a:endParaRPr lang="en-US" sz="1220" dirty="0"/>
          </a:p>
        </p:txBody>
      </p:sp>
      <p:sp>
        <p:nvSpPr>
          <p:cNvPr id="28" name="Shape 26"/>
          <p:cNvSpPr/>
          <p:nvPr/>
        </p:nvSpPr>
        <p:spPr>
          <a:xfrm>
            <a:off x="6803136" y="3817620"/>
            <a:ext cx="82296" cy="82296"/>
          </a:xfrm>
          <a:prstGeom prst="ellipse">
            <a:avLst/>
          </a:prstGeom>
          <a:solidFill>
            <a:srgbClr val="7F8B58"/>
          </a:solidFill>
          <a:ln w="12700">
            <a:solidFill>
              <a:srgbClr val="7F8B58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67728" y="3726180"/>
            <a:ext cx="4133088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2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Contenido de hallazgo, historia y visita física.</a:t>
            </a:r>
            <a:endParaRPr lang="en-US" sz="1220" dirty="0"/>
          </a:p>
        </p:txBody>
      </p:sp>
      <p:sp>
        <p:nvSpPr>
          <p:cNvPr id="30" name="Shape 28"/>
          <p:cNvSpPr/>
          <p:nvPr/>
        </p:nvSpPr>
        <p:spPr>
          <a:xfrm>
            <a:off x="6803136" y="4217670"/>
            <a:ext cx="82296" cy="82296"/>
          </a:xfrm>
          <a:prstGeom prst="ellipse">
            <a:avLst/>
          </a:prstGeom>
          <a:solidFill>
            <a:srgbClr val="7F8B58"/>
          </a:solidFill>
          <a:ln w="12700">
            <a:solidFill>
              <a:srgbClr val="7F8B58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967728" y="4126230"/>
            <a:ext cx="4133088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2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Marca independiente, humana y no institucional.</a:t>
            </a:r>
            <a:endParaRPr lang="en-US" sz="1220" dirty="0"/>
          </a:p>
        </p:txBody>
      </p:sp>
      <p:sp>
        <p:nvSpPr>
          <p:cNvPr id="32" name="Text 30"/>
          <p:cNvSpPr txBox="1"/>
          <p:nvPr/>
        </p:nvSpPr>
        <p:spPr>
          <a:xfrm>
            <a:off x="6803136" y="4727448"/>
            <a:ext cx="1344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20" b="1" kern="0" spc="70" dirty="0">
                <a:solidFill>
                  <a:srgbClr val="7F8B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Pregunta que responde</a:t>
            </a:r>
            <a:endParaRPr lang="en-US" sz="820" dirty="0"/>
          </a:p>
        </p:txBody>
      </p:sp>
      <p:sp>
        <p:nvSpPr>
          <p:cNvPr id="33" name="Text 31"/>
          <p:cNvSpPr txBox="1"/>
          <p:nvPr/>
        </p:nvSpPr>
        <p:spPr>
          <a:xfrm>
            <a:off x="8247888" y="46634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“¿Qué pieza especial puedo descubrir hoy?”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2103120" y="5559552"/>
            <a:ext cx="7991856" cy="457200"/>
          </a:xfrm>
          <a:prstGeom prst="roundRect">
            <a:avLst>
              <a:gd name="adj" fmla="val 16000"/>
            </a:avLst>
          </a:prstGeom>
          <a:solidFill>
            <a:srgbClr val="24313A"/>
          </a:solidFill>
          <a:ln w="10160">
            <a:solidFill>
              <a:srgbClr val="24313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359152" y="5678424"/>
            <a:ext cx="747979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Misma infraestructura posible. Distinta promesa, lenguaje, señalización, contenido y conversión.</a:t>
            </a:r>
            <a:endParaRPr lang="en-US" sz="1070" dirty="0"/>
          </a:p>
        </p:txBody>
      </p:sp>
      <p:sp>
        <p:nvSpPr>
          <p:cNvPr id="36" name="Shape 34"/>
          <p:cNvSpPr/>
          <p:nvPr/>
        </p:nvSpPr>
        <p:spPr>
          <a:xfrm>
            <a:off x="594360" y="6519672"/>
            <a:ext cx="11000232" cy="0"/>
          </a:xfrm>
          <a:prstGeom prst="line">
            <a:avLst/>
          </a:prstGeom>
          <a:noFill/>
          <a:ln w="10160">
            <a:solidFill>
              <a:srgbClr val="D7D1C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03504" y="658368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kern="0" spc="9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PORTAFOLIO ESTRATÉGICO V1.0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3886200" y="6583680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kern="0" spc="90" dirty="0">
                <a:solidFill>
                  <a:srgbClr val="D1A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ARQUITECTURA DE MARCA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11119104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 name="Slide 24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38912"/>
            <a:ext cx="1298448" cy="329184"/>
          </a:xfrm>
          <a:prstGeom prst="roundRect">
            <a:avLst/>
          </a:prstGeom>
          <a:solidFill>
            <a:srgbClr val="D1A258"/>
          </a:solidFill>
          <a:ln w="7620">
            <a:solidFill>
              <a:srgbClr val="D1A25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13232" y="507492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11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ECOSISTEMA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03504" y="877824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Sinergias útiles, sin canibalización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1563624"/>
            <a:ext cx="10652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ahorro está en compartir capacidades internas. La claridad está en mantener marcas, públicos y promesas independientes.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02996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30" b="1" kern="0" spc="85" dirty="0">
                <a:solidFill>
                  <a:srgbClr val="2431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RETAIL, HOGAR Y OPORTUNIDADES</a:t>
            </a:r>
            <a:endParaRPr lang="en-US" sz="830" dirty="0"/>
          </a:p>
        </p:txBody>
      </p:sp>
      <p:sp>
        <p:nvSpPr>
          <p:cNvPr id="7" name="Text 5"/>
          <p:cNvSpPr txBox="1"/>
          <p:nvPr/>
        </p:nvSpPr>
        <p:spPr>
          <a:xfrm>
            <a:off x="9162288" y="202996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30" b="1" kern="0" spc="85" dirty="0">
                <a:solidFill>
                  <a:srgbClr val="2431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EVENTOS Y PRODUCCIÓN</a:t>
            </a:r>
            <a:endParaRPr lang="en-US" sz="830" dirty="0"/>
          </a:p>
        </p:txBody>
      </p:sp>
      <p:sp>
        <p:nvSpPr>
          <p:cNvPr id="8" name="Shape 6"/>
          <p:cNvSpPr/>
          <p:nvPr/>
        </p:nvSpPr>
        <p:spPr>
          <a:xfrm>
            <a:off x="2816352" y="2587752"/>
            <a:ext cx="1481328" cy="493776"/>
          </a:xfrm>
          <a:prstGeom prst="line">
            <a:avLst/>
          </a:prstGeom>
          <a:noFill/>
          <a:ln w="15875">
            <a:solidFill>
              <a:srgbClr val="B9B3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16352" y="3547872"/>
            <a:ext cx="1481328" cy="0"/>
          </a:xfrm>
          <a:prstGeom prst="line">
            <a:avLst/>
          </a:prstGeom>
          <a:noFill/>
          <a:ln w="15875">
            <a:solidFill>
              <a:srgbClr val="B9B3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16352" y="4507992"/>
            <a:ext cx="1481328" cy="0"/>
          </a:xfrm>
          <a:prstGeom prst="line">
            <a:avLst/>
          </a:prstGeom>
          <a:noFill/>
          <a:ln w="15875">
            <a:solidFill>
              <a:srgbClr val="B9B3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91272" y="3154680"/>
            <a:ext cx="1417320" cy="0"/>
          </a:xfrm>
          <a:prstGeom prst="line">
            <a:avLst/>
          </a:prstGeom>
          <a:noFill/>
          <a:ln w="15875">
            <a:solidFill>
              <a:srgbClr val="B9B3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91272" y="3941064"/>
            <a:ext cx="1417320" cy="365760"/>
          </a:xfrm>
          <a:prstGeom prst="line">
            <a:avLst/>
          </a:prstGeom>
          <a:noFill/>
          <a:ln w="15875">
            <a:solidFill>
              <a:srgbClr val="B9B3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2240280"/>
            <a:ext cx="21031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2240280"/>
            <a:ext cx="128016" cy="713232"/>
          </a:xfrm>
          <a:prstGeom prst="rect">
            <a:avLst/>
          </a:prstGeom>
          <a:solidFill>
            <a:srgbClr val="C56D4B"/>
          </a:solidFill>
          <a:ln w="12700">
            <a:solidFill>
              <a:srgbClr val="C56D4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5840" y="2468880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2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ALLMOVEIS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713232" y="3200400"/>
            <a:ext cx="21031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3200400"/>
            <a:ext cx="128016" cy="713232"/>
          </a:xfrm>
          <a:prstGeom prst="rect">
            <a:avLst/>
          </a:prstGeom>
          <a:solidFill>
            <a:srgbClr val="7F8B58"/>
          </a:solidFill>
          <a:ln w="12700">
            <a:solidFill>
              <a:srgbClr val="7F8B5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3429000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2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SECONDCHANCE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713232" y="4160520"/>
            <a:ext cx="21031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4160520"/>
            <a:ext cx="128016" cy="713232"/>
          </a:xfrm>
          <a:prstGeom prst="rect">
            <a:avLst/>
          </a:prstGeom>
          <a:solidFill>
            <a:srgbClr val="D78B2E"/>
          </a:solidFill>
          <a:ln w="12700">
            <a:solidFill>
              <a:srgbClr val="D78B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5840" y="4389120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2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FLASHSTOCK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9308592" y="2404872"/>
            <a:ext cx="21031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08592" y="2404872"/>
            <a:ext cx="128016" cy="713232"/>
          </a:xfrm>
          <a:prstGeom prst="rect">
            <a:avLst/>
          </a:prstGeom>
          <a:solidFill>
            <a:srgbClr val="2F708D"/>
          </a:solidFill>
          <a:ln w="12700">
            <a:solidFill>
              <a:srgbClr val="2F708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01200" y="263347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2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ICCM VENUE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9308592" y="3950208"/>
            <a:ext cx="21031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08592" y="3950208"/>
            <a:ext cx="128016" cy="713232"/>
          </a:xfrm>
          <a:prstGeom prst="rect">
            <a:avLst/>
          </a:prstGeom>
          <a:solidFill>
            <a:srgbClr val="C74444"/>
          </a:solidFill>
          <a:ln w="12700">
            <a:solidFill>
              <a:srgbClr val="C7444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601200" y="4178808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2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VISUAL777.PT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4297680" y="2587752"/>
            <a:ext cx="3593592" cy="2057400"/>
          </a:xfrm>
          <a:prstGeom prst="roundRect">
            <a:avLst>
              <a:gd name="adj" fmla="val 3556"/>
            </a:avLst>
          </a:prstGeom>
          <a:solidFill>
            <a:srgbClr val="24313A"/>
          </a:solidFill>
          <a:ln w="10160">
            <a:solidFill>
              <a:srgbClr val="24313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09160" y="2916936"/>
            <a:ext cx="2770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20" b="1" kern="0" spc="105" dirty="0">
                <a:solidFill>
                  <a:srgbClr val="D1A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MOTOR COMPARTIDO</a:t>
            </a:r>
            <a:endParaRPr lang="en-US" sz="920" dirty="0"/>
          </a:p>
        </p:txBody>
      </p:sp>
      <p:sp>
        <p:nvSpPr>
          <p:cNvPr id="30" name="Text 28"/>
          <p:cNvSpPr txBox="1"/>
          <p:nvPr/>
        </p:nvSpPr>
        <p:spPr>
          <a:xfrm>
            <a:off x="4645152" y="3319272"/>
            <a:ext cx="289864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2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Equipo + contenido + datos + procesos + infraestructura</a:t>
            </a:r>
            <a:endParaRPr lang="en-US" sz="1620" dirty="0"/>
          </a:p>
        </p:txBody>
      </p:sp>
      <p:sp>
        <p:nvSpPr>
          <p:cNvPr id="31" name="Shape 29"/>
          <p:cNvSpPr/>
          <p:nvPr/>
        </p:nvSpPr>
        <p:spPr>
          <a:xfrm>
            <a:off x="1920240" y="5230368"/>
            <a:ext cx="8348472" cy="530352"/>
          </a:xfrm>
          <a:prstGeom prst="roundRect">
            <a:avLst>
              <a:gd name="adj" fmla="val 13793"/>
            </a:avLst>
          </a:prstGeom>
          <a:solidFill>
            <a:srgbClr val="FAF8F4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212848" y="5385816"/>
            <a:ext cx="7763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2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Sinergia comercial directa: ICCM Venue vende el lugar; Visual777.pt vende la producción.</a:t>
            </a:r>
            <a:endParaRPr lang="en-US" sz="1220" dirty="0"/>
          </a:p>
        </p:txBody>
      </p:sp>
      <p:sp>
        <p:nvSpPr>
          <p:cNvPr id="33" name="Text 31"/>
          <p:cNvSpPr txBox="1"/>
          <p:nvPr/>
        </p:nvSpPr>
        <p:spPr>
          <a:xfrm>
            <a:off x="3154680" y="5971032"/>
            <a:ext cx="5897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40" b="1" kern="0" spc="55" dirty="0">
                <a:solidFill>
                  <a:srgbClr val="D1A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Compartir por dentro. Diferenciar por fuera.</a:t>
            </a:r>
            <a:endParaRPr lang="en-US" sz="1040" dirty="0"/>
          </a:p>
        </p:txBody>
      </p:sp>
      <p:sp>
        <p:nvSpPr>
          <p:cNvPr id="34" name="Shape 32"/>
          <p:cNvSpPr/>
          <p:nvPr/>
        </p:nvSpPr>
        <p:spPr>
          <a:xfrm>
            <a:off x="594360" y="6519672"/>
            <a:ext cx="11000232" cy="0"/>
          </a:xfrm>
          <a:prstGeom prst="line">
            <a:avLst/>
          </a:prstGeom>
          <a:noFill/>
          <a:ln w="10160">
            <a:solidFill>
              <a:srgbClr val="D7D1C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03504" y="658368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kern="0" spc="9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PORTAFOLIO ESTRATÉGICO V1.0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3886200" y="6583680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kern="0" spc="90" dirty="0">
                <a:solidFill>
                  <a:srgbClr val="D1A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OPERATIVO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11119104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 name="Slide 25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38912"/>
            <a:ext cx="1170432" cy="329184"/>
          </a:xfrm>
          <a:prstGeom prst="roundRect">
            <a:avLst/>
          </a:prstGeom>
          <a:solidFill>
            <a:srgbClr val="D1A258"/>
          </a:solidFill>
          <a:ln w="7620">
            <a:solidFill>
              <a:srgbClr val="D1A25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13232" y="507492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11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CONTENIDO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03504" y="877824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Un motor de marketing, cinco voces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1563624"/>
            <a:ext cx="10652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producción puede compartirse. La edición, el mensaje y la llamada a la acción deben responder a cada marca.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3504" y="2029968"/>
            <a:ext cx="1993392" cy="301752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2322576"/>
            <a:ext cx="731520" cy="731520"/>
          </a:xfrm>
          <a:prstGeom prst="ellipse">
            <a:avLst/>
          </a:prstGeom>
          <a:solidFill>
            <a:srgbClr val="24313A"/>
          </a:solidFill>
          <a:ln w="12700">
            <a:solidFill>
              <a:srgbClr val="2431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34440" y="25146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D1A25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364992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100" dirty="0">
                <a:solidFill>
                  <a:srgbClr val="2431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CAPTURAR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3794760"/>
            <a:ext cx="159105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grabación planificada produce material horizontal, vertical, fotos y pruebas.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96896" y="3154680"/>
            <a:ext cx="219456" cy="658368"/>
          </a:xfrm>
          <a:prstGeom prst="chevron">
            <a:avLst/>
          </a:prstGeom>
          <a:solidFill>
            <a:srgbClr val="D1A258"/>
          </a:solidFill>
          <a:ln w="12700">
            <a:solidFill>
              <a:srgbClr val="D1A25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16352" y="2029968"/>
            <a:ext cx="1993392" cy="301752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47288" y="2322576"/>
            <a:ext cx="731520" cy="731520"/>
          </a:xfrm>
          <a:prstGeom prst="ellipse">
            <a:avLst/>
          </a:prstGeom>
          <a:solidFill>
            <a:srgbClr val="24313A"/>
          </a:solidFill>
          <a:ln w="12700">
            <a:solidFill>
              <a:srgbClr val="2431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47288" y="25146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D1A25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3364992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100" dirty="0">
                <a:solidFill>
                  <a:srgbClr val="2431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ADAPTAR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017520" y="3794760"/>
            <a:ext cx="159105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marca recibe tono, contexto, precio, CTA y formatos propios.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09744" y="3154680"/>
            <a:ext cx="219456" cy="658368"/>
          </a:xfrm>
          <a:prstGeom prst="chevron">
            <a:avLst/>
          </a:prstGeom>
          <a:solidFill>
            <a:srgbClr val="D1A258"/>
          </a:solidFill>
          <a:ln w="12700">
            <a:solidFill>
              <a:srgbClr val="D1A25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0" y="2029968"/>
            <a:ext cx="1993392" cy="301752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0136" y="2322576"/>
            <a:ext cx="731520" cy="731520"/>
          </a:xfrm>
          <a:prstGeom prst="ellipse">
            <a:avLst/>
          </a:prstGeom>
          <a:solidFill>
            <a:srgbClr val="24313A"/>
          </a:solidFill>
          <a:ln w="12700">
            <a:solidFill>
              <a:srgbClr val="2431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0136" y="25146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D1A25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230368" y="3364992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100" dirty="0">
                <a:solidFill>
                  <a:srgbClr val="2431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PUBLICAR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230368" y="3794760"/>
            <a:ext cx="159105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Calendario ligado a stock, aperturas, eventos o disponibilidad comercial.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022592" y="3154680"/>
            <a:ext cx="219456" cy="658368"/>
          </a:xfrm>
          <a:prstGeom prst="chevron">
            <a:avLst/>
          </a:prstGeom>
          <a:solidFill>
            <a:srgbClr val="D1A258"/>
          </a:solidFill>
          <a:ln w="12700">
            <a:solidFill>
              <a:srgbClr val="D1A25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42048" y="2029968"/>
            <a:ext cx="1993392" cy="301752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72984" y="2322576"/>
            <a:ext cx="731520" cy="731520"/>
          </a:xfrm>
          <a:prstGeom prst="ellipse">
            <a:avLst/>
          </a:prstGeom>
          <a:solidFill>
            <a:srgbClr val="24313A"/>
          </a:solidFill>
          <a:ln w="12700">
            <a:solidFill>
              <a:srgbClr val="24313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872984" y="25146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D1A25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443216" y="3364992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100" dirty="0">
                <a:solidFill>
                  <a:srgbClr val="2431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CONVERTIR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7443216" y="3794760"/>
            <a:ext cx="159105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Web, WhatsApp, mapas, formularios o checkout reciben la demanda.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235440" y="3154680"/>
            <a:ext cx="219456" cy="658368"/>
          </a:xfrm>
          <a:prstGeom prst="chevron">
            <a:avLst/>
          </a:prstGeom>
          <a:solidFill>
            <a:srgbClr val="D1A258"/>
          </a:solidFill>
          <a:ln w="12700">
            <a:solidFill>
              <a:srgbClr val="D1A25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454896" y="2029968"/>
            <a:ext cx="1993392" cy="301752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085832" y="2322576"/>
            <a:ext cx="731520" cy="731520"/>
          </a:xfrm>
          <a:prstGeom prst="ellipse">
            <a:avLst/>
          </a:prstGeom>
          <a:solidFill>
            <a:srgbClr val="24313A"/>
          </a:solidFill>
          <a:ln w="12700">
            <a:solidFill>
              <a:srgbClr val="24313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085832" y="25146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D1A25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656064" y="3364992"/>
            <a:ext cx="1591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100" dirty="0">
                <a:solidFill>
                  <a:srgbClr val="2431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APRENDER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9656064" y="3794760"/>
            <a:ext cx="159105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Preguntas, leads, ventas, visitas e incidencias alimentan el siguiente ciclo.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03504" y="5367528"/>
            <a:ext cx="10981944" cy="566928"/>
          </a:xfrm>
          <a:prstGeom prst="roundRect">
            <a:avLst>
              <a:gd name="adj" fmla="val 12903"/>
            </a:avLst>
          </a:prstGeom>
          <a:solidFill>
            <a:srgbClr val="24313A"/>
          </a:solidFill>
          <a:ln w="10160">
            <a:solidFill>
              <a:srgbClr val="24313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96112" y="5532120"/>
            <a:ext cx="10396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7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No se mide contenido por “cantidad publicada”, sino por la acción que provoca y la información que devuelve.</a:t>
            </a:r>
            <a:endParaRPr lang="en-US" sz="1270" dirty="0"/>
          </a:p>
        </p:txBody>
      </p:sp>
      <p:sp>
        <p:nvSpPr>
          <p:cNvPr id="37" name="Shape 35"/>
          <p:cNvSpPr/>
          <p:nvPr/>
        </p:nvSpPr>
        <p:spPr>
          <a:xfrm>
            <a:off x="594360" y="6519672"/>
            <a:ext cx="11000232" cy="0"/>
          </a:xfrm>
          <a:prstGeom prst="line">
            <a:avLst/>
          </a:prstGeom>
          <a:noFill/>
          <a:ln w="10160">
            <a:solidFill>
              <a:srgbClr val="D7D1C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03504" y="658368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kern="0" spc="9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PORTAFOLIO ESTRATÉGICO V1.0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3886200" y="6583680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kern="0" spc="90" dirty="0">
                <a:solidFill>
                  <a:srgbClr val="D1A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OPERATIVO</a:t>
            </a:r>
            <a:endParaRPr lang="en-US" sz="750" dirty="0"/>
          </a:p>
        </p:txBody>
      </p:sp>
      <p:sp>
        <p:nvSpPr>
          <p:cNvPr id="40" name="Text 38"/>
          <p:cNvSpPr txBox="1"/>
          <p:nvPr/>
        </p:nvSpPr>
        <p:spPr>
          <a:xfrm>
            <a:off x="11119104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 name="Slide 26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38912"/>
            <a:ext cx="1024128" cy="329184"/>
          </a:xfrm>
          <a:prstGeom prst="roundRect">
            <a:avLst/>
          </a:prstGeom>
          <a:solidFill>
            <a:srgbClr val="D1A258"/>
          </a:solidFill>
          <a:ln w="7620">
            <a:solidFill>
              <a:srgbClr val="D1A25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13232" y="507492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11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03504" y="877824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Sistema operativo mínimo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1563624"/>
            <a:ext cx="10652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Antes de escalar campañas, el portafolio necesita una fuente de verdad, responsables y un flujo de aprobación.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3504" y="1984248"/>
            <a:ext cx="10981944" cy="566928"/>
          </a:xfrm>
          <a:prstGeom prst="roundRect">
            <a:avLst>
              <a:gd name="adj" fmla="val 12903"/>
            </a:avLst>
          </a:prstGeom>
          <a:solidFill>
            <a:srgbClr val="24313A"/>
          </a:solidFill>
          <a:ln w="10160">
            <a:solidFill>
              <a:srgbClr val="2431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" y="1984248"/>
            <a:ext cx="118872" cy="566928"/>
          </a:xfrm>
          <a:prstGeom prst="rect">
            <a:avLst/>
          </a:prstGeom>
          <a:solidFill>
            <a:srgbClr val="24313A"/>
          </a:solidFill>
          <a:ln w="12700">
            <a:solidFill>
              <a:srgbClr val="2431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148840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kern="0" spc="90" dirty="0">
                <a:solidFill>
                  <a:srgbClr val="D1A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PORTFOLIO HQ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2715768" y="2103120"/>
            <a:ext cx="8558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Prioridades, decisiones y capacidad del equipo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2706624"/>
            <a:ext cx="1054303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706624"/>
            <a:ext cx="118872" cy="566928"/>
          </a:xfrm>
          <a:prstGeom prst="rect">
            <a:avLst/>
          </a:prstGeom>
          <a:solidFill>
            <a:srgbClr val="D1A258"/>
          </a:solidFill>
          <a:ln w="12700">
            <a:solidFill>
              <a:srgbClr val="D1A25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33856" y="2871216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kern="0" spc="90" dirty="0">
                <a:solidFill>
                  <a:srgbClr val="D1A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FICHA DE MARCA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2935224" y="2825496"/>
            <a:ext cx="8119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Oferta, tono, público, precios, políticas y hechos validados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42416" y="3429000"/>
            <a:ext cx="10104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2416" y="3429000"/>
            <a:ext cx="118872" cy="566928"/>
          </a:xfrm>
          <a:prstGeom prst="rect">
            <a:avLst/>
          </a:prstGeom>
          <a:solidFill>
            <a:srgbClr val="50735F"/>
          </a:solidFill>
          <a:ln w="12700">
            <a:solidFill>
              <a:srgbClr val="50735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353312" y="3593592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kern="0" spc="90" dirty="0">
                <a:solidFill>
                  <a:srgbClr val="5073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OPERACIÓN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3154680" y="354787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Stock, disponibilidad, agenda, inventario, logística y responsables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261872" y="4151376"/>
            <a:ext cx="966520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61872" y="4151376"/>
            <a:ext cx="118872" cy="566928"/>
          </a:xfrm>
          <a:prstGeom prst="rect">
            <a:avLst/>
          </a:prstGeom>
          <a:solidFill>
            <a:srgbClr val="3C7088"/>
          </a:solidFill>
          <a:ln w="12700">
            <a:solidFill>
              <a:srgbClr val="3C708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572768" y="4315968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kern="0" spc="90" dirty="0">
                <a:solidFill>
                  <a:srgbClr val="3C70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CAPTACIÓN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3374136" y="4270248"/>
            <a:ext cx="7242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Contenido, campañas, mapas, formularios, WhatsApp y CRM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481328" y="4873752"/>
            <a:ext cx="9226296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81328" y="4873752"/>
            <a:ext cx="118872" cy="566928"/>
          </a:xfrm>
          <a:prstGeom prst="rect">
            <a:avLst/>
          </a:prstGeom>
          <a:solidFill>
            <a:srgbClr val="B6534C"/>
          </a:solidFill>
          <a:ln w="12700">
            <a:solidFill>
              <a:srgbClr val="B6534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792224" y="5038344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kern="0" spc="90" dirty="0">
                <a:solidFill>
                  <a:srgbClr val="B653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MEDICIÓN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3593592" y="4992624"/>
            <a:ext cx="6803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Leads, ventas, visitas, margen, incidencias y aprendizajes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5751576"/>
            <a:ext cx="11704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30" b="1" kern="0" spc="80" dirty="0">
                <a:solidFill>
                  <a:srgbClr val="D1A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Ritmo recomendado</a:t>
            </a:r>
            <a:endParaRPr lang="en-US" sz="830" dirty="0"/>
          </a:p>
        </p:txBody>
      </p:sp>
      <p:sp>
        <p:nvSpPr>
          <p:cNvPr id="27" name="Text 25"/>
          <p:cNvSpPr txBox="1"/>
          <p:nvPr/>
        </p:nvSpPr>
        <p:spPr>
          <a:xfrm>
            <a:off x="1938528" y="5641848"/>
            <a:ext cx="9217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Revisión semanal de operación y contenido  |  Revisión mensual de resultados y prioridades  |  Un dueño por proyecto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4360" y="6519672"/>
            <a:ext cx="11000232" cy="0"/>
          </a:xfrm>
          <a:prstGeom prst="line">
            <a:avLst/>
          </a:prstGeom>
          <a:noFill/>
          <a:ln w="10160">
            <a:solidFill>
              <a:srgbClr val="D7D1C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03504" y="658368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kern="0" spc="9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PORTAFOLIO ESTRATÉGICO V1.0</a:t>
            </a:r>
            <a:endParaRPr lang="en-US" sz="750" dirty="0"/>
          </a:p>
        </p:txBody>
      </p:sp>
      <p:sp>
        <p:nvSpPr>
          <p:cNvPr id="30" name="Text 28"/>
          <p:cNvSpPr txBox="1"/>
          <p:nvPr/>
        </p:nvSpPr>
        <p:spPr>
          <a:xfrm>
            <a:off x="3886200" y="6583680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kern="0" spc="90" dirty="0">
                <a:solidFill>
                  <a:srgbClr val="D1A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OPERATIVO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11119104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 name="Slide 27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38912"/>
            <a:ext cx="1362456" cy="329184"/>
          </a:xfrm>
          <a:prstGeom prst="roundRect">
            <a:avLst/>
          </a:prstGeom>
          <a:solidFill>
            <a:srgbClr val="D1A258"/>
          </a:solidFill>
          <a:ln w="7620">
            <a:solidFill>
              <a:srgbClr val="D1A25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13232" y="50749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11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HOJA DE RUTA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03504" y="877824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Primeros 90 días del portafolio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1563624"/>
            <a:ext cx="10652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objetivo no es “lanzar todo”, sino cerrar fundamentos y generar primeras pruebas comerciales sin perder control.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3504" y="2057400"/>
            <a:ext cx="3493008" cy="3584448"/>
          </a:xfrm>
          <a:prstGeom prst="roundRect">
            <a:avLst>
              <a:gd name="adj" fmla="val 2094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" y="2057400"/>
            <a:ext cx="3493008" cy="155448"/>
          </a:xfrm>
          <a:prstGeom prst="rect">
            <a:avLst/>
          </a:prstGeom>
          <a:solidFill>
            <a:srgbClr val="50735F"/>
          </a:solidFill>
          <a:ln w="12700">
            <a:solidFill>
              <a:srgbClr val="5073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7824" y="2459736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kern="0" spc="100" dirty="0">
                <a:solidFill>
                  <a:srgbClr val="5073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0-30 DÍAS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281635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VERDAD Y ORDEN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86968" y="3547872"/>
            <a:ext cx="82296" cy="82296"/>
          </a:xfrm>
          <a:prstGeom prst="ellipse">
            <a:avLst/>
          </a:prstGeom>
          <a:solidFill>
            <a:srgbClr val="50735F"/>
          </a:solidFill>
          <a:ln w="12700">
            <a:solidFill>
              <a:srgbClr val="50735F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3456432"/>
            <a:ext cx="2624328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Auditar hechos, activos, accesos y responsables.</a:t>
            </a:r>
            <a:endParaRPr lang="en-US" sz="1160" dirty="0"/>
          </a:p>
        </p:txBody>
      </p:sp>
      <p:sp>
        <p:nvSpPr>
          <p:cNvPr id="12" name="Shape 10"/>
          <p:cNvSpPr/>
          <p:nvPr/>
        </p:nvSpPr>
        <p:spPr>
          <a:xfrm>
            <a:off x="886968" y="4072128"/>
            <a:ext cx="82296" cy="82296"/>
          </a:xfrm>
          <a:prstGeom prst="ellipse">
            <a:avLst/>
          </a:prstGeom>
          <a:solidFill>
            <a:srgbClr val="50735F"/>
          </a:solidFill>
          <a:ln w="12700">
            <a:solidFill>
              <a:srgbClr val="50735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3980688"/>
            <a:ext cx="2624328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Cerrar arquitectura de marca y propuesta V1.0.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886968" y="4596384"/>
            <a:ext cx="82296" cy="82296"/>
          </a:xfrm>
          <a:prstGeom prst="ellipse">
            <a:avLst/>
          </a:prstGeom>
          <a:solidFill>
            <a:srgbClr val="50735F"/>
          </a:solidFill>
          <a:ln w="12700">
            <a:solidFill>
              <a:srgbClr val="50735F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1560" y="4504944"/>
            <a:ext cx="2624328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Priorizar Allmoveis y la separación con SecondChance.</a:t>
            </a:r>
            <a:endParaRPr lang="en-US" sz="1160" dirty="0"/>
          </a:p>
        </p:txBody>
      </p:sp>
      <p:sp>
        <p:nvSpPr>
          <p:cNvPr id="16" name="Shape 14"/>
          <p:cNvSpPr/>
          <p:nvPr/>
        </p:nvSpPr>
        <p:spPr>
          <a:xfrm>
            <a:off x="4370832" y="2057400"/>
            <a:ext cx="3493008" cy="3584448"/>
          </a:xfrm>
          <a:prstGeom prst="roundRect">
            <a:avLst>
              <a:gd name="adj" fmla="val 2094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70832" y="2057400"/>
            <a:ext cx="3493008" cy="155448"/>
          </a:xfrm>
          <a:prstGeom prst="rect">
            <a:avLst/>
          </a:prstGeom>
          <a:solidFill>
            <a:srgbClr val="3C7088"/>
          </a:solidFill>
          <a:ln w="12700">
            <a:solidFill>
              <a:srgbClr val="3C708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45152" y="2459736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kern="0" spc="100" dirty="0">
                <a:solidFill>
                  <a:srgbClr val="3C70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31-60 DÍAS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4645152" y="281635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PRODUCTO Y SISTEMA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654296" y="3547872"/>
            <a:ext cx="82296" cy="82296"/>
          </a:xfrm>
          <a:prstGeom prst="ellipse">
            <a:avLst/>
          </a:prstGeom>
          <a:solidFill>
            <a:srgbClr val="3C7088"/>
          </a:solidFill>
          <a:ln w="12700">
            <a:solidFill>
              <a:srgbClr val="3C7088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18888" y="3456432"/>
            <a:ext cx="2624328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Completar páginas, dossiers, SOP y formularios.</a:t>
            </a:r>
            <a:endParaRPr lang="en-US" sz="1160" dirty="0"/>
          </a:p>
        </p:txBody>
      </p:sp>
      <p:sp>
        <p:nvSpPr>
          <p:cNvPr id="22" name="Shape 20"/>
          <p:cNvSpPr/>
          <p:nvPr/>
        </p:nvSpPr>
        <p:spPr>
          <a:xfrm>
            <a:off x="4654296" y="4072128"/>
            <a:ext cx="82296" cy="82296"/>
          </a:xfrm>
          <a:prstGeom prst="ellipse">
            <a:avLst/>
          </a:prstGeom>
          <a:solidFill>
            <a:srgbClr val="3C7088"/>
          </a:solidFill>
          <a:ln w="12700">
            <a:solidFill>
              <a:srgbClr val="3C7088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18888" y="3980688"/>
            <a:ext cx="2624328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Preparar FlashStock para campaña y AV para venta.</a:t>
            </a:r>
            <a:endParaRPr lang="en-US" sz="1160" dirty="0"/>
          </a:p>
        </p:txBody>
      </p:sp>
      <p:sp>
        <p:nvSpPr>
          <p:cNvPr id="24" name="Shape 22"/>
          <p:cNvSpPr/>
          <p:nvPr/>
        </p:nvSpPr>
        <p:spPr>
          <a:xfrm>
            <a:off x="4654296" y="4596384"/>
            <a:ext cx="82296" cy="82296"/>
          </a:xfrm>
          <a:prstGeom prst="ellipse">
            <a:avLst/>
          </a:prstGeom>
          <a:solidFill>
            <a:srgbClr val="3C7088"/>
          </a:solidFill>
          <a:ln w="12700">
            <a:solidFill>
              <a:srgbClr val="3C7088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18888" y="4504944"/>
            <a:ext cx="2624328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Instalar medición mínima y repositorio de decisiones.</a:t>
            </a:r>
            <a:endParaRPr lang="en-US" sz="1160" dirty="0"/>
          </a:p>
        </p:txBody>
      </p:sp>
      <p:sp>
        <p:nvSpPr>
          <p:cNvPr id="26" name="Shape 24"/>
          <p:cNvSpPr/>
          <p:nvPr/>
        </p:nvSpPr>
        <p:spPr>
          <a:xfrm>
            <a:off x="8138160" y="2057400"/>
            <a:ext cx="3493008" cy="3584448"/>
          </a:xfrm>
          <a:prstGeom prst="roundRect">
            <a:avLst>
              <a:gd name="adj" fmla="val 2094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0" y="2057400"/>
            <a:ext cx="3493008" cy="155448"/>
          </a:xfrm>
          <a:prstGeom prst="rect">
            <a:avLst/>
          </a:prstGeom>
          <a:solidFill>
            <a:srgbClr val="D1A258"/>
          </a:solidFill>
          <a:ln w="12700">
            <a:solidFill>
              <a:srgbClr val="D1A25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412480" y="2459736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kern="0" spc="100" dirty="0">
                <a:solidFill>
                  <a:srgbClr val="D1A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61-90 DÍAS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8412480" y="281635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PRUEBA CONTROLADA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8421624" y="3547872"/>
            <a:ext cx="82296" cy="82296"/>
          </a:xfrm>
          <a:prstGeom prst="ellipse">
            <a:avLst/>
          </a:prstGeom>
          <a:solidFill>
            <a:srgbClr val="D1A258"/>
          </a:solidFill>
          <a:ln w="12700">
            <a:solidFill>
              <a:srgbClr val="D1A258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586216" y="3456432"/>
            <a:ext cx="2624328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Lanzar o pilotar cada frente según disponibilidad.</a:t>
            </a:r>
            <a:endParaRPr lang="en-US" sz="1160" dirty="0"/>
          </a:p>
        </p:txBody>
      </p:sp>
      <p:sp>
        <p:nvSpPr>
          <p:cNvPr id="32" name="Shape 30"/>
          <p:cNvSpPr/>
          <p:nvPr/>
        </p:nvSpPr>
        <p:spPr>
          <a:xfrm>
            <a:off x="8421624" y="4072128"/>
            <a:ext cx="82296" cy="82296"/>
          </a:xfrm>
          <a:prstGeom prst="ellipse">
            <a:avLst/>
          </a:prstGeom>
          <a:solidFill>
            <a:srgbClr val="D1A258"/>
          </a:solidFill>
          <a:ln w="12700">
            <a:solidFill>
              <a:srgbClr val="D1A258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586216" y="3980688"/>
            <a:ext cx="2624328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Capturar ventas, leads, visitas, incidencias y margen.</a:t>
            </a:r>
            <a:endParaRPr lang="en-US" sz="1160" dirty="0"/>
          </a:p>
        </p:txBody>
      </p:sp>
      <p:sp>
        <p:nvSpPr>
          <p:cNvPr id="34" name="Shape 32"/>
          <p:cNvSpPr/>
          <p:nvPr/>
        </p:nvSpPr>
        <p:spPr>
          <a:xfrm>
            <a:off x="8421624" y="4596384"/>
            <a:ext cx="82296" cy="82296"/>
          </a:xfrm>
          <a:prstGeom prst="ellipse">
            <a:avLst/>
          </a:prstGeom>
          <a:solidFill>
            <a:srgbClr val="D1A258"/>
          </a:solidFill>
          <a:ln w="12700">
            <a:solidFill>
              <a:srgbClr val="D1A258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586216" y="4504944"/>
            <a:ext cx="2624328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6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Corregir antes de aumentar gasto, equipo o complejidad.</a:t>
            </a:r>
            <a:endParaRPr lang="en-US" sz="1160" dirty="0"/>
          </a:p>
        </p:txBody>
      </p:sp>
      <p:sp>
        <p:nvSpPr>
          <p:cNvPr id="36" name="Shape 34"/>
          <p:cNvSpPr/>
          <p:nvPr/>
        </p:nvSpPr>
        <p:spPr>
          <a:xfrm>
            <a:off x="594360" y="6519672"/>
            <a:ext cx="11000232" cy="0"/>
          </a:xfrm>
          <a:prstGeom prst="line">
            <a:avLst/>
          </a:prstGeom>
          <a:noFill/>
          <a:ln w="10160">
            <a:solidFill>
              <a:srgbClr val="D7D1C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03504" y="658368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kern="0" spc="9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PORTAFOLIO ESTRATÉGICO V1.0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3886200" y="6583680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kern="0" spc="90" dirty="0">
                <a:solidFill>
                  <a:srgbClr val="D1A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HOJA DE RUTA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11119104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 name="Slide 28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38912"/>
            <a:ext cx="896112" cy="329184"/>
          </a:xfrm>
          <a:prstGeom prst="roundRect">
            <a:avLst/>
          </a:prstGeom>
          <a:solidFill>
            <a:srgbClr val="D1A258"/>
          </a:solidFill>
          <a:ln w="7620">
            <a:solidFill>
              <a:srgbClr val="D1A25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13232" y="507492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11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FOCO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03504" y="877824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Secuencia de 12 meses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1563624"/>
            <a:ext cx="10652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Todos avanzan, pero el peso cambia por trimestre. Los hitos dependen de operación real, no de fechas de marketing.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3504" y="2011680"/>
            <a:ext cx="2523744" cy="3621024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44752" y="2304288"/>
            <a:ext cx="841248" cy="841248"/>
          </a:xfrm>
          <a:prstGeom prst="ellipse">
            <a:avLst/>
          </a:prstGeom>
          <a:solidFill>
            <a:srgbClr val="50735F"/>
          </a:solidFill>
          <a:ln w="12700">
            <a:solidFill>
              <a:srgbClr val="5073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44752" y="2578608"/>
            <a:ext cx="8412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Q1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429000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10" b="1" kern="0" spc="75" dirty="0">
                <a:solidFill>
                  <a:srgbClr val="2431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FUNDAMENTOS</a:t>
            </a:r>
            <a:endParaRPr lang="en-US" sz="910" dirty="0"/>
          </a:p>
        </p:txBody>
      </p:sp>
      <p:sp>
        <p:nvSpPr>
          <p:cNvPr id="10" name="Shape 8"/>
          <p:cNvSpPr/>
          <p:nvPr/>
        </p:nvSpPr>
        <p:spPr>
          <a:xfrm>
            <a:off x="859536" y="4023360"/>
            <a:ext cx="82296" cy="82296"/>
          </a:xfrm>
          <a:prstGeom prst="ellipse">
            <a:avLst/>
          </a:prstGeom>
          <a:solidFill>
            <a:srgbClr val="50735F"/>
          </a:solidFill>
          <a:ln w="12700">
            <a:solidFill>
              <a:srgbClr val="50735F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4128" y="393192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Allmoveis: catálogo y tienda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859536" y="4343400"/>
            <a:ext cx="82296" cy="82296"/>
          </a:xfrm>
          <a:prstGeom prst="ellipse">
            <a:avLst/>
          </a:prstGeom>
          <a:solidFill>
            <a:srgbClr val="50735F"/>
          </a:solidFill>
          <a:ln w="12700">
            <a:solidFill>
              <a:srgbClr val="50735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24128" y="425196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SecondChance: identidad y localización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59536" y="4663440"/>
            <a:ext cx="82296" cy="82296"/>
          </a:xfrm>
          <a:prstGeom prst="ellipse">
            <a:avLst/>
          </a:prstGeom>
          <a:solidFill>
            <a:srgbClr val="50735F"/>
          </a:solidFill>
          <a:ln w="12700">
            <a:solidFill>
              <a:srgbClr val="50735F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24128" y="457200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FlashStock: SOP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859536" y="4983480"/>
            <a:ext cx="82296" cy="82296"/>
          </a:xfrm>
          <a:prstGeom prst="ellipse">
            <a:avLst/>
          </a:prstGeom>
          <a:solidFill>
            <a:srgbClr val="50735F"/>
          </a:solidFill>
          <a:ln w="12700">
            <a:solidFill>
              <a:srgbClr val="50735F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24128" y="48920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ICCM / Visual777: auditoría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3127248" y="3310128"/>
            <a:ext cx="265176" cy="658368"/>
          </a:xfrm>
          <a:prstGeom prst="chevron">
            <a:avLst/>
          </a:prstGeom>
          <a:solidFill>
            <a:srgbClr val="E6E1D8"/>
          </a:solidFill>
          <a:ln w="12700">
            <a:solidFill>
              <a:srgbClr val="E6E1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92424" y="2011680"/>
            <a:ext cx="2523744" cy="3621024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33672" y="2304288"/>
            <a:ext cx="841248" cy="841248"/>
          </a:xfrm>
          <a:prstGeom prst="ellipse">
            <a:avLst/>
          </a:prstGeom>
          <a:solidFill>
            <a:srgbClr val="3C7088"/>
          </a:solidFill>
          <a:ln w="12700">
            <a:solidFill>
              <a:srgbClr val="3C708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233672" y="2578608"/>
            <a:ext cx="8412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Q2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611880" y="3429000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10" b="1" kern="0" spc="75" dirty="0">
                <a:solidFill>
                  <a:srgbClr val="2431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PRIMERAS PRUEBAS</a:t>
            </a:r>
            <a:endParaRPr lang="en-US" sz="910" dirty="0"/>
          </a:p>
        </p:txBody>
      </p:sp>
      <p:sp>
        <p:nvSpPr>
          <p:cNvPr id="23" name="Shape 21"/>
          <p:cNvSpPr/>
          <p:nvPr/>
        </p:nvSpPr>
        <p:spPr>
          <a:xfrm>
            <a:off x="3648456" y="4023360"/>
            <a:ext cx="82296" cy="82296"/>
          </a:xfrm>
          <a:prstGeom prst="ellipse">
            <a:avLst/>
          </a:prstGeom>
          <a:solidFill>
            <a:srgbClr val="3C7088"/>
          </a:solidFill>
          <a:ln w="12700">
            <a:solidFill>
              <a:srgbClr val="3C7088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813048" y="393192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Lanzamiento controlado Allmoveis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3648456" y="4343400"/>
            <a:ext cx="82296" cy="82296"/>
          </a:xfrm>
          <a:prstGeom prst="ellipse">
            <a:avLst/>
          </a:prstGeom>
          <a:solidFill>
            <a:srgbClr val="3C7088"/>
          </a:solidFill>
          <a:ln w="12700">
            <a:solidFill>
              <a:srgbClr val="3C7088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813048" y="425196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Activación local SecondChance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3648456" y="4663440"/>
            <a:ext cx="82296" cy="82296"/>
          </a:xfrm>
          <a:prstGeom prst="ellipse">
            <a:avLst/>
          </a:prstGeom>
          <a:solidFill>
            <a:srgbClr val="3C7088"/>
          </a:solidFill>
          <a:ln w="12700">
            <a:solidFill>
              <a:srgbClr val="3C7088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813048" y="457200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Primera campaña FlashStock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3648456" y="4983480"/>
            <a:ext cx="82296" cy="82296"/>
          </a:xfrm>
          <a:prstGeom prst="ellipse">
            <a:avLst/>
          </a:prstGeom>
          <a:solidFill>
            <a:srgbClr val="3C7088"/>
          </a:solidFill>
          <a:ln w="12700">
            <a:solidFill>
              <a:srgbClr val="3C7088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813048" y="48920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Dossiers y pilotos AV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5916168" y="3310128"/>
            <a:ext cx="265176" cy="658368"/>
          </a:xfrm>
          <a:prstGeom prst="chevron">
            <a:avLst/>
          </a:prstGeom>
          <a:solidFill>
            <a:srgbClr val="E6E1D8"/>
          </a:solidFill>
          <a:ln w="12700">
            <a:solidFill>
              <a:srgbClr val="E6E1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81344" y="2011680"/>
            <a:ext cx="2523744" cy="3621024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22592" y="2304288"/>
            <a:ext cx="841248" cy="841248"/>
          </a:xfrm>
          <a:prstGeom prst="ellipse">
            <a:avLst/>
          </a:prstGeom>
          <a:solidFill>
            <a:srgbClr val="D1A258"/>
          </a:solidFill>
          <a:ln w="12700">
            <a:solidFill>
              <a:srgbClr val="D1A25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022592" y="2578608"/>
            <a:ext cx="8412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Q3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0" y="3429000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10" b="1" kern="0" spc="75" dirty="0">
                <a:solidFill>
                  <a:srgbClr val="2431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OPTIMIZACIÓN</a:t>
            </a:r>
            <a:endParaRPr lang="en-US" sz="910" dirty="0"/>
          </a:p>
        </p:txBody>
      </p:sp>
      <p:sp>
        <p:nvSpPr>
          <p:cNvPr id="36" name="Shape 34"/>
          <p:cNvSpPr/>
          <p:nvPr/>
        </p:nvSpPr>
        <p:spPr>
          <a:xfrm>
            <a:off x="6437376" y="4023360"/>
            <a:ext cx="82296" cy="82296"/>
          </a:xfrm>
          <a:prstGeom prst="ellipse">
            <a:avLst/>
          </a:prstGeom>
          <a:solidFill>
            <a:srgbClr val="D1A258"/>
          </a:solidFill>
          <a:ln w="12700">
            <a:solidFill>
              <a:srgbClr val="D1A258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601968" y="393192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Mejorar conversión y logística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6437376" y="4343400"/>
            <a:ext cx="82296" cy="82296"/>
          </a:xfrm>
          <a:prstGeom prst="ellipse">
            <a:avLst/>
          </a:prstGeom>
          <a:solidFill>
            <a:srgbClr val="D1A258"/>
          </a:solidFill>
          <a:ln w="12700">
            <a:solidFill>
              <a:srgbClr val="D1A258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601968" y="425196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Repetición de contenidos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6437376" y="4663440"/>
            <a:ext cx="82296" cy="82296"/>
          </a:xfrm>
          <a:prstGeom prst="ellipse">
            <a:avLst/>
          </a:prstGeom>
          <a:solidFill>
            <a:srgbClr val="D1A258"/>
          </a:solidFill>
          <a:ln w="12700">
            <a:solidFill>
              <a:srgbClr val="D1A258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601968" y="457200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Casos de estudio ICCM / Visual777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6437376" y="4983480"/>
            <a:ext cx="82296" cy="82296"/>
          </a:xfrm>
          <a:prstGeom prst="ellipse">
            <a:avLst/>
          </a:prstGeom>
          <a:solidFill>
            <a:srgbClr val="D1A258"/>
          </a:solidFill>
          <a:ln w="12700">
            <a:solidFill>
              <a:srgbClr val="D1A258">
                <a:alpha val="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601968" y="48920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Datos por tienda y campaña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8705088" y="3310128"/>
            <a:ext cx="265176" cy="658368"/>
          </a:xfrm>
          <a:prstGeom prst="chevron">
            <a:avLst/>
          </a:prstGeom>
          <a:solidFill>
            <a:srgbClr val="E6E1D8"/>
          </a:solidFill>
          <a:ln w="12700">
            <a:solidFill>
              <a:srgbClr val="E6E1D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970264" y="2011680"/>
            <a:ext cx="2523744" cy="3621024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811512" y="2304288"/>
            <a:ext cx="841248" cy="841248"/>
          </a:xfrm>
          <a:prstGeom prst="ellipse">
            <a:avLst/>
          </a:prstGeom>
          <a:solidFill>
            <a:srgbClr val="B6534C"/>
          </a:solidFill>
          <a:ln w="12700">
            <a:solidFill>
              <a:srgbClr val="B6534C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811512" y="2578608"/>
            <a:ext cx="8412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Q4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9189720" y="3429000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10" b="1" kern="0" spc="75" dirty="0">
                <a:solidFill>
                  <a:srgbClr val="2431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 SELECTIVA</a:t>
            </a:r>
            <a:endParaRPr lang="en-US" sz="910" dirty="0"/>
          </a:p>
        </p:txBody>
      </p:sp>
      <p:sp>
        <p:nvSpPr>
          <p:cNvPr id="49" name="Shape 47"/>
          <p:cNvSpPr/>
          <p:nvPr/>
        </p:nvSpPr>
        <p:spPr>
          <a:xfrm>
            <a:off x="9226296" y="4023360"/>
            <a:ext cx="82296" cy="82296"/>
          </a:xfrm>
          <a:prstGeom prst="ellipse">
            <a:avLst/>
          </a:prstGeom>
          <a:solidFill>
            <a:srgbClr val="B6534C"/>
          </a:solidFill>
          <a:ln w="12700">
            <a:solidFill>
              <a:srgbClr val="B6534C">
                <a:alpha val="0"/>
              </a:srgbClr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390888" y="393192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Invertir donde exista evidencia</a:t>
            </a:r>
            <a:endParaRPr lang="en-US" sz="980" dirty="0"/>
          </a:p>
        </p:txBody>
      </p:sp>
      <p:sp>
        <p:nvSpPr>
          <p:cNvPr id="51" name="Shape 49"/>
          <p:cNvSpPr/>
          <p:nvPr/>
        </p:nvSpPr>
        <p:spPr>
          <a:xfrm>
            <a:off x="9226296" y="4343400"/>
            <a:ext cx="82296" cy="82296"/>
          </a:xfrm>
          <a:prstGeom prst="ellipse">
            <a:avLst/>
          </a:prstGeom>
          <a:solidFill>
            <a:srgbClr val="B6534C"/>
          </a:solidFill>
          <a:ln w="12700">
            <a:solidFill>
              <a:srgbClr val="B6534C">
                <a:alpha val="0"/>
              </a:srgbClr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390888" y="425196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Automatizar tareas repetibles</a:t>
            </a:r>
            <a:endParaRPr lang="en-US" sz="980" dirty="0"/>
          </a:p>
        </p:txBody>
      </p:sp>
      <p:sp>
        <p:nvSpPr>
          <p:cNvPr id="53" name="Shape 51"/>
          <p:cNvSpPr/>
          <p:nvPr/>
        </p:nvSpPr>
        <p:spPr>
          <a:xfrm>
            <a:off x="9226296" y="4663440"/>
            <a:ext cx="82296" cy="82296"/>
          </a:xfrm>
          <a:prstGeom prst="ellipse">
            <a:avLst/>
          </a:prstGeom>
          <a:solidFill>
            <a:srgbClr val="B6534C"/>
          </a:solidFill>
          <a:ln w="12700">
            <a:solidFill>
              <a:srgbClr val="B6534C">
                <a:alpha val="0"/>
              </a:srgbClr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390888" y="457200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Cerrar clientes ancla AV</a:t>
            </a:r>
            <a:endParaRPr lang="en-US" sz="980" dirty="0"/>
          </a:p>
        </p:txBody>
      </p:sp>
      <p:sp>
        <p:nvSpPr>
          <p:cNvPr id="55" name="Shape 53"/>
          <p:cNvSpPr/>
          <p:nvPr/>
        </p:nvSpPr>
        <p:spPr>
          <a:xfrm>
            <a:off x="9226296" y="4983480"/>
            <a:ext cx="82296" cy="82296"/>
          </a:xfrm>
          <a:prstGeom prst="ellipse">
            <a:avLst/>
          </a:prstGeom>
          <a:solidFill>
            <a:srgbClr val="B6534C"/>
          </a:solidFill>
          <a:ln w="12700">
            <a:solidFill>
              <a:srgbClr val="B6534C">
                <a:alpha val="0"/>
              </a:srgbClr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390888" y="4892040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V2.0 con presupuesto</a:t>
            </a:r>
            <a:endParaRPr lang="en-US" sz="980" dirty="0"/>
          </a:p>
        </p:txBody>
      </p:sp>
      <p:sp>
        <p:nvSpPr>
          <p:cNvPr id="57" name="Text 55"/>
          <p:cNvSpPr txBox="1"/>
          <p:nvPr/>
        </p:nvSpPr>
        <p:spPr>
          <a:xfrm>
            <a:off x="1152144" y="5861304"/>
            <a:ext cx="9902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Regla de inversión: ninguna marca escala por entusiasmo; escala cuando demuestra demanda, margen y capacidad operativa.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594360" y="6519672"/>
            <a:ext cx="11000232" cy="0"/>
          </a:xfrm>
          <a:prstGeom prst="line">
            <a:avLst/>
          </a:prstGeom>
          <a:noFill/>
          <a:ln w="10160">
            <a:solidFill>
              <a:srgbClr val="D7D1C8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03504" y="658368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kern="0" spc="9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PORTAFOLIO ESTRATÉGICO V1.0</a:t>
            </a:r>
            <a:endParaRPr lang="en-US" sz="750" dirty="0"/>
          </a:p>
        </p:txBody>
      </p:sp>
      <p:sp>
        <p:nvSpPr>
          <p:cNvPr id="60" name="Text 58"/>
          <p:cNvSpPr txBox="1"/>
          <p:nvPr/>
        </p:nvSpPr>
        <p:spPr>
          <a:xfrm>
            <a:off x="3886200" y="6583680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kern="0" spc="90" dirty="0">
                <a:solidFill>
                  <a:srgbClr val="D1A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HOJA DE RUTA</a:t>
            </a:r>
            <a:endParaRPr lang="en-US" sz="750" dirty="0"/>
          </a:p>
        </p:txBody>
      </p:sp>
      <p:sp>
        <p:nvSpPr>
          <p:cNvPr id="61" name="Text 59"/>
          <p:cNvSpPr txBox="1"/>
          <p:nvPr/>
        </p:nvSpPr>
        <p:spPr>
          <a:xfrm>
            <a:off x="11119104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 name="Slide 29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38912"/>
            <a:ext cx="1024128" cy="329184"/>
          </a:xfrm>
          <a:prstGeom prst="roundRect">
            <a:avLst/>
          </a:prstGeom>
          <a:solidFill>
            <a:srgbClr val="D1A258"/>
          </a:solidFill>
          <a:ln w="7620">
            <a:solidFill>
              <a:srgbClr val="D1A25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13232" y="507492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11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03504" y="877824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Qué medir y qué evitar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1563624"/>
            <a:ext cx="10652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Pocos indicadores vinculados a negocio. Seguidores y visualizaciones sirven como diagnóstico, no como resultado final.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3504" y="2011680"/>
            <a:ext cx="1993392" cy="2212848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" y="2011680"/>
            <a:ext cx="1993392" cy="146304"/>
          </a:xfrm>
          <a:prstGeom prst="rect">
            <a:avLst/>
          </a:prstGeom>
          <a:solidFill>
            <a:srgbClr val="C56D4B"/>
          </a:solidFill>
          <a:ln w="12700">
            <a:solidFill>
              <a:srgbClr val="C56D4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0664" y="242316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6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ALLMOVEIS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813816" y="2971800"/>
            <a:ext cx="82296" cy="82296"/>
          </a:xfrm>
          <a:prstGeom prst="ellipse">
            <a:avLst/>
          </a:prstGeom>
          <a:solidFill>
            <a:srgbClr val="C56D4B"/>
          </a:solidFill>
          <a:ln w="12700">
            <a:solidFill>
              <a:srgbClr val="C56D4B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78408" y="2880360"/>
            <a:ext cx="138988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Conversión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813816" y="3276600"/>
            <a:ext cx="82296" cy="82296"/>
          </a:xfrm>
          <a:prstGeom prst="ellipse">
            <a:avLst/>
          </a:prstGeom>
          <a:solidFill>
            <a:srgbClr val="C56D4B"/>
          </a:solidFill>
          <a:ln w="12700">
            <a:solidFill>
              <a:srgbClr val="C56D4B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78408" y="3185160"/>
            <a:ext cx="138988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Margen tras entrega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813816" y="3581400"/>
            <a:ext cx="82296" cy="82296"/>
          </a:xfrm>
          <a:prstGeom prst="ellipse">
            <a:avLst/>
          </a:prstGeom>
          <a:solidFill>
            <a:srgbClr val="C56D4B"/>
          </a:solidFill>
          <a:ln w="12700">
            <a:solidFill>
              <a:srgbClr val="C56D4B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78408" y="3489960"/>
            <a:ext cx="138988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Incidencias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2816352" y="2011680"/>
            <a:ext cx="1993392" cy="2212848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16352" y="2011680"/>
            <a:ext cx="1993392" cy="146304"/>
          </a:xfrm>
          <a:prstGeom prst="rect">
            <a:avLst/>
          </a:prstGeom>
          <a:solidFill>
            <a:srgbClr val="7F8B58"/>
          </a:solidFill>
          <a:ln w="12700">
            <a:solidFill>
              <a:srgbClr val="7F8B5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53512" y="242316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6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SECONDCHANCE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3026664" y="2971800"/>
            <a:ext cx="82296" cy="82296"/>
          </a:xfrm>
          <a:prstGeom prst="ellipse">
            <a:avLst/>
          </a:prstGeom>
          <a:solidFill>
            <a:srgbClr val="7F8B58"/>
          </a:solidFill>
          <a:ln w="12700">
            <a:solidFill>
              <a:srgbClr val="7F8B58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191256" y="2880360"/>
            <a:ext cx="138988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Rutas / mapas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3026664" y="3276600"/>
            <a:ext cx="82296" cy="82296"/>
          </a:xfrm>
          <a:prstGeom prst="ellipse">
            <a:avLst/>
          </a:prstGeom>
          <a:solidFill>
            <a:srgbClr val="7F8B58"/>
          </a:solidFill>
          <a:ln w="12700">
            <a:solidFill>
              <a:srgbClr val="7F8B58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191256" y="3185160"/>
            <a:ext cx="138988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Consultas por tienda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3026664" y="3581400"/>
            <a:ext cx="82296" cy="82296"/>
          </a:xfrm>
          <a:prstGeom prst="ellipse">
            <a:avLst/>
          </a:prstGeom>
          <a:solidFill>
            <a:srgbClr val="7F8B58"/>
          </a:solidFill>
          <a:ln w="12700">
            <a:solidFill>
              <a:srgbClr val="7F8B58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191256" y="3489960"/>
            <a:ext cx="138988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Visitas atribuibles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5029200" y="2011680"/>
            <a:ext cx="1993392" cy="2212848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0" y="2011680"/>
            <a:ext cx="1993392" cy="146304"/>
          </a:xfrm>
          <a:prstGeom prst="rect">
            <a:avLst/>
          </a:prstGeom>
          <a:solidFill>
            <a:srgbClr val="D78B2E"/>
          </a:solidFill>
          <a:ln w="12700">
            <a:solidFill>
              <a:srgbClr val="D78B2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166360" y="242316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6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FLASHSTOCK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5239512" y="2971800"/>
            <a:ext cx="82296" cy="82296"/>
          </a:xfrm>
          <a:prstGeom prst="ellipse">
            <a:avLst/>
          </a:prstGeom>
          <a:solidFill>
            <a:srgbClr val="D78B2E"/>
          </a:solidFill>
          <a:ln w="12700">
            <a:solidFill>
              <a:srgbClr val="D78B2E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04104" y="2880360"/>
            <a:ext cx="138988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Sell-through por lote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5239512" y="3276600"/>
            <a:ext cx="82296" cy="82296"/>
          </a:xfrm>
          <a:prstGeom prst="ellipse">
            <a:avLst/>
          </a:prstGeom>
          <a:solidFill>
            <a:srgbClr val="D78B2E"/>
          </a:solidFill>
          <a:ln w="12700">
            <a:solidFill>
              <a:srgbClr val="D78B2E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04104" y="3185160"/>
            <a:ext cx="138988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Margen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5239512" y="3581400"/>
            <a:ext cx="82296" cy="82296"/>
          </a:xfrm>
          <a:prstGeom prst="ellipse">
            <a:avLst/>
          </a:prstGeom>
          <a:solidFill>
            <a:srgbClr val="D78B2E"/>
          </a:solidFill>
          <a:ln w="12700">
            <a:solidFill>
              <a:srgbClr val="D78B2E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04104" y="3489960"/>
            <a:ext cx="138988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Defectos / devoluciones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7242048" y="2011680"/>
            <a:ext cx="1993392" cy="2212848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42048" y="2011680"/>
            <a:ext cx="1993392" cy="146304"/>
          </a:xfrm>
          <a:prstGeom prst="rect">
            <a:avLst/>
          </a:prstGeom>
          <a:solidFill>
            <a:srgbClr val="2F708D"/>
          </a:solidFill>
          <a:ln w="12700">
            <a:solidFill>
              <a:srgbClr val="2F708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79208" y="242316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6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ICCM VENUE</a:t>
            </a:r>
            <a:endParaRPr lang="en-US" sz="1060" dirty="0"/>
          </a:p>
        </p:txBody>
      </p:sp>
      <p:sp>
        <p:nvSpPr>
          <p:cNvPr id="36" name="Shape 34"/>
          <p:cNvSpPr/>
          <p:nvPr/>
        </p:nvSpPr>
        <p:spPr>
          <a:xfrm>
            <a:off x="7452360" y="2971800"/>
            <a:ext cx="82296" cy="82296"/>
          </a:xfrm>
          <a:prstGeom prst="ellipse">
            <a:avLst/>
          </a:prstGeom>
          <a:solidFill>
            <a:srgbClr val="2F708D"/>
          </a:solidFill>
          <a:ln w="12700">
            <a:solidFill>
              <a:srgbClr val="2F708D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616952" y="2880360"/>
            <a:ext cx="138988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Leads cualificados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7452360" y="3276600"/>
            <a:ext cx="82296" cy="82296"/>
          </a:xfrm>
          <a:prstGeom prst="ellipse">
            <a:avLst/>
          </a:prstGeom>
          <a:solidFill>
            <a:srgbClr val="2F708D"/>
          </a:solidFill>
          <a:ln w="12700">
            <a:solidFill>
              <a:srgbClr val="2F708D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616952" y="3185160"/>
            <a:ext cx="138988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Visitas técnicas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7452360" y="3581400"/>
            <a:ext cx="82296" cy="82296"/>
          </a:xfrm>
          <a:prstGeom prst="ellipse">
            <a:avLst/>
          </a:prstGeom>
          <a:solidFill>
            <a:srgbClr val="2F708D"/>
          </a:solidFill>
          <a:ln w="12700">
            <a:solidFill>
              <a:srgbClr val="2F708D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616952" y="3489960"/>
            <a:ext cx="138988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Reservas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9454896" y="2011680"/>
            <a:ext cx="1993392" cy="2212848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0160">
            <a:solidFill>
              <a:srgbClr val="E6E1D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454896" y="2011680"/>
            <a:ext cx="1993392" cy="146304"/>
          </a:xfrm>
          <a:prstGeom prst="rect">
            <a:avLst/>
          </a:prstGeom>
          <a:solidFill>
            <a:srgbClr val="C74444"/>
          </a:solidFill>
          <a:ln w="12700">
            <a:solidFill>
              <a:srgbClr val="C74444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592056" y="242316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6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VISUAL777.PT</a:t>
            </a:r>
            <a:endParaRPr lang="en-US" sz="1060" dirty="0"/>
          </a:p>
        </p:txBody>
      </p:sp>
      <p:sp>
        <p:nvSpPr>
          <p:cNvPr id="45" name="Shape 43"/>
          <p:cNvSpPr/>
          <p:nvPr/>
        </p:nvSpPr>
        <p:spPr>
          <a:xfrm>
            <a:off x="9665208" y="2971800"/>
            <a:ext cx="82296" cy="82296"/>
          </a:xfrm>
          <a:prstGeom prst="ellipse">
            <a:avLst/>
          </a:prstGeom>
          <a:solidFill>
            <a:srgbClr val="C74444"/>
          </a:solidFill>
          <a:ln w="12700">
            <a:solidFill>
              <a:srgbClr val="C74444">
                <a:alpha val="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829800" y="2880360"/>
            <a:ext cx="138988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Briefings</a:t>
            </a:r>
            <a:endParaRPr lang="en-US" sz="980" dirty="0"/>
          </a:p>
        </p:txBody>
      </p:sp>
      <p:sp>
        <p:nvSpPr>
          <p:cNvPr id="47" name="Shape 45"/>
          <p:cNvSpPr/>
          <p:nvPr/>
        </p:nvSpPr>
        <p:spPr>
          <a:xfrm>
            <a:off x="9665208" y="3276600"/>
            <a:ext cx="82296" cy="82296"/>
          </a:xfrm>
          <a:prstGeom prst="ellipse">
            <a:avLst/>
          </a:prstGeom>
          <a:solidFill>
            <a:srgbClr val="C74444"/>
          </a:solidFill>
          <a:ln w="12700">
            <a:solidFill>
              <a:srgbClr val="C74444">
                <a:alpha val="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829800" y="3185160"/>
            <a:ext cx="138988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Tasa de cierre</a:t>
            </a:r>
            <a:endParaRPr lang="en-US" sz="980" dirty="0"/>
          </a:p>
        </p:txBody>
      </p:sp>
      <p:sp>
        <p:nvSpPr>
          <p:cNvPr id="49" name="Shape 47"/>
          <p:cNvSpPr/>
          <p:nvPr/>
        </p:nvSpPr>
        <p:spPr>
          <a:xfrm>
            <a:off x="9665208" y="3581400"/>
            <a:ext cx="82296" cy="82296"/>
          </a:xfrm>
          <a:prstGeom prst="ellipse">
            <a:avLst/>
          </a:prstGeom>
          <a:solidFill>
            <a:srgbClr val="C74444"/>
          </a:solidFill>
          <a:ln w="12700">
            <a:solidFill>
              <a:srgbClr val="C74444">
                <a:alpha val="0"/>
              </a:srgbClr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829800" y="3489960"/>
            <a:ext cx="138988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1E27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Margen por proyecto</a:t>
            </a:r>
            <a:endParaRPr lang="en-US" sz="980" dirty="0"/>
          </a:p>
        </p:txBody>
      </p:sp>
      <p:sp>
        <p:nvSpPr>
          <p:cNvPr id="51" name="Shape 49"/>
          <p:cNvSpPr/>
          <p:nvPr/>
        </p:nvSpPr>
        <p:spPr>
          <a:xfrm>
            <a:off x="603504" y="4526280"/>
            <a:ext cx="5349240" cy="1078992"/>
          </a:xfrm>
          <a:prstGeom prst="roundRect">
            <a:avLst>
              <a:gd name="adj" fmla="val 6780"/>
            </a:avLst>
          </a:prstGeom>
          <a:solidFill>
            <a:srgbClr val="E8F0EA"/>
          </a:solidFill>
          <a:ln w="10160">
            <a:solidFill>
              <a:srgbClr val="E8F0E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77824" y="477316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40" b="1" kern="0" spc="90" dirty="0">
                <a:solidFill>
                  <a:srgbClr val="50735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SEÑAL DE SALUD</a:t>
            </a:r>
            <a:endParaRPr lang="en-US" sz="840" dirty="0"/>
          </a:p>
        </p:txBody>
      </p:sp>
      <p:sp>
        <p:nvSpPr>
          <p:cNvPr id="53" name="Text 51"/>
          <p:cNvSpPr txBox="1"/>
          <p:nvPr/>
        </p:nvSpPr>
        <p:spPr>
          <a:xfrm>
            <a:off x="2331720" y="470001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Más demanda con menos fricción, mejor margen y menos incidencias.</a:t>
            </a:r>
            <a:endParaRPr lang="en-US" sz="1350" dirty="0"/>
          </a:p>
        </p:txBody>
      </p:sp>
      <p:sp>
        <p:nvSpPr>
          <p:cNvPr id="54" name="Shape 52"/>
          <p:cNvSpPr/>
          <p:nvPr/>
        </p:nvSpPr>
        <p:spPr>
          <a:xfrm>
            <a:off x="6236208" y="4526280"/>
            <a:ext cx="5349240" cy="1078992"/>
          </a:xfrm>
          <a:prstGeom prst="roundRect">
            <a:avLst>
              <a:gd name="adj" fmla="val 6780"/>
            </a:avLst>
          </a:prstGeom>
          <a:solidFill>
            <a:srgbClr val="F1E9E6"/>
          </a:solidFill>
          <a:ln w="10160">
            <a:solidFill>
              <a:srgbClr val="F1E9E6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510528" y="4773168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40" b="1" kern="0" spc="90" dirty="0">
                <a:solidFill>
                  <a:srgbClr val="B6534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SEÑAL DE ALERTA</a:t>
            </a:r>
            <a:endParaRPr lang="en-US" sz="840" dirty="0"/>
          </a:p>
        </p:txBody>
      </p:sp>
      <p:sp>
        <p:nvSpPr>
          <p:cNvPr id="56" name="Text 54"/>
          <p:cNvSpPr txBox="1"/>
          <p:nvPr/>
        </p:nvSpPr>
        <p:spPr>
          <a:xfrm>
            <a:off x="7964424" y="470001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4313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Más contenido y tareas, pero sin ventas, visitas, reservas ni aprendizaje.</a:t>
            </a:r>
            <a:endParaRPr lang="en-US" sz="1350" dirty="0"/>
          </a:p>
        </p:txBody>
      </p:sp>
      <p:sp>
        <p:nvSpPr>
          <p:cNvPr id="57" name="Shape 55"/>
          <p:cNvSpPr/>
          <p:nvPr/>
        </p:nvSpPr>
        <p:spPr>
          <a:xfrm>
            <a:off x="594360" y="6519672"/>
            <a:ext cx="11000232" cy="0"/>
          </a:xfrm>
          <a:prstGeom prst="line">
            <a:avLst/>
          </a:prstGeom>
          <a:noFill/>
          <a:ln w="10160">
            <a:solidFill>
              <a:srgbClr val="D7D1C8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03504" y="658368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b="1" kern="0" spc="90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PORTAFOLIO ESTRATÉGICO V1.0</a:t>
            </a:r>
            <a:endParaRPr lang="en-US" sz="750" dirty="0"/>
          </a:p>
        </p:txBody>
      </p:sp>
      <p:sp>
        <p:nvSpPr>
          <p:cNvPr id="59" name="Text 57"/>
          <p:cNvSpPr txBox="1"/>
          <p:nvPr/>
        </p:nvSpPr>
        <p:spPr>
          <a:xfrm>
            <a:off x="3886200" y="6583680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50" b="1" kern="0" spc="90" dirty="0">
                <a:solidFill>
                  <a:srgbClr val="D1A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</a:t>
            </a:r>
            <a:endParaRPr lang="en-US" sz="750" dirty="0"/>
          </a:p>
        </p:txBody>
      </p:sp>
      <p:sp>
        <p:nvSpPr>
          <p:cNvPr id="60" name="Text 58"/>
          <p:cNvSpPr txBox="1"/>
          <p:nvPr/>
        </p:nvSpPr>
        <p:spPr>
          <a:xfrm>
            <a:off x="11119104" y="655624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6974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 name="Slide 30">
    <p:bg>
      <p:bgPr>
        <a:solidFill>
          <a:srgbClr val="243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12064"/>
            <a:ext cx="1572768" cy="329184"/>
          </a:xfrm>
          <a:prstGeom prst="roundRect">
            <a:avLst/>
          </a:prstGeom>
          <a:solidFill>
            <a:srgbClr val="D1A258"/>
          </a:solidFill>
          <a:ln w="7620">
            <a:solidFill>
              <a:srgbClr val="D1A25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68096" y="58064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110" dirty="0">
                <a:solidFill>
                  <a:srgbClr val="24313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CÓMO EXPLICARLO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987552"/>
            <a:ext cx="107716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Un portafolio para activar potencial existente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1719072"/>
            <a:ext cx="106344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40" b="1" dirty="0">
                <a:solidFill>
                  <a:srgbClr val="D3DA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estamos creando cinco ideas desconectadas. Estamos separando y profesionalizando cinco propuestas que comparten activos, experiencia y equipo, pero necesitan marcas, ofertas y sistemas distintos.</a:t>
            </a:r>
            <a:endParaRPr lang="en-US" sz="1440" dirty="0"/>
          </a:p>
        </p:txBody>
      </p:sp>
      <p:sp>
        <p:nvSpPr>
          <p:cNvPr id="6" name="Shape 4"/>
          <p:cNvSpPr/>
          <p:nvPr/>
        </p:nvSpPr>
        <p:spPr>
          <a:xfrm>
            <a:off x="658368" y="2761488"/>
            <a:ext cx="3447288" cy="1060704"/>
          </a:xfrm>
          <a:prstGeom prst="roundRect">
            <a:avLst>
              <a:gd name="adj" fmla="val 6897"/>
            </a:avLst>
          </a:prstGeom>
          <a:solidFill>
            <a:srgbClr val="2D3B44"/>
          </a:solidFill>
          <a:ln w="10160">
            <a:solidFill>
              <a:srgbClr val="4151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761488"/>
            <a:ext cx="118872" cy="1060704"/>
          </a:xfrm>
          <a:prstGeom prst="rect">
            <a:avLst/>
          </a:prstGeom>
          <a:solidFill>
            <a:srgbClr val="C56D4B"/>
          </a:solidFill>
          <a:ln w="12700">
            <a:solidFill>
              <a:srgbClr val="C56D4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" y="2980944"/>
            <a:ext cx="2935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80" b="1" kern="0" spc="90" dirty="0">
                <a:solidFill>
                  <a:srgbClr val="C56D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ALLMOVEIS</a:t>
            </a:r>
            <a:endParaRPr lang="en-US" sz="880" dirty="0"/>
          </a:p>
        </p:txBody>
      </p:sp>
      <p:sp>
        <p:nvSpPr>
          <p:cNvPr id="9" name="Text 7"/>
          <p:cNvSpPr txBox="1"/>
          <p:nvPr/>
        </p:nvSpPr>
        <p:spPr>
          <a:xfrm>
            <a:off x="969264" y="3264408"/>
            <a:ext cx="29352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Mueble nuevo con catálogo amplio, experiencia clara y acompañamiento.</a:t>
            </a:r>
            <a:endParaRPr lang="en-US" sz="1140" dirty="0"/>
          </a:p>
        </p:txBody>
      </p:sp>
      <p:sp>
        <p:nvSpPr>
          <p:cNvPr id="10" name="Shape 8"/>
          <p:cNvSpPr/>
          <p:nvPr/>
        </p:nvSpPr>
        <p:spPr>
          <a:xfrm>
            <a:off x="4334256" y="2761488"/>
            <a:ext cx="3447288" cy="1060704"/>
          </a:xfrm>
          <a:prstGeom prst="roundRect">
            <a:avLst>
              <a:gd name="adj" fmla="val 6897"/>
            </a:avLst>
          </a:prstGeom>
          <a:solidFill>
            <a:srgbClr val="2D3B44"/>
          </a:solidFill>
          <a:ln w="10160">
            <a:solidFill>
              <a:srgbClr val="41515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34256" y="2761488"/>
            <a:ext cx="118872" cy="1060704"/>
          </a:xfrm>
          <a:prstGeom prst="rect">
            <a:avLst/>
          </a:prstGeom>
          <a:solidFill>
            <a:srgbClr val="7F8B58"/>
          </a:solidFill>
          <a:ln w="12700">
            <a:solidFill>
              <a:srgbClr val="7F8B5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45152" y="2980944"/>
            <a:ext cx="2935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80" b="1" kern="0" spc="90" dirty="0">
                <a:solidFill>
                  <a:srgbClr val="7F8B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SECONDCHANCE</a:t>
            </a:r>
            <a:endParaRPr lang="en-US" sz="880" dirty="0"/>
          </a:p>
        </p:txBody>
      </p:sp>
      <p:sp>
        <p:nvSpPr>
          <p:cNvPr id="13" name="Text 11"/>
          <p:cNvSpPr txBox="1"/>
          <p:nvPr/>
        </p:nvSpPr>
        <p:spPr>
          <a:xfrm>
            <a:off x="4645152" y="3264408"/>
            <a:ext cx="29352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Hallazgos con carácter que llevan personas a tiendas físicas.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8010144" y="2761488"/>
            <a:ext cx="3447288" cy="1060704"/>
          </a:xfrm>
          <a:prstGeom prst="roundRect">
            <a:avLst>
              <a:gd name="adj" fmla="val 6897"/>
            </a:avLst>
          </a:prstGeom>
          <a:solidFill>
            <a:srgbClr val="2D3B44"/>
          </a:solidFill>
          <a:ln w="10160">
            <a:solidFill>
              <a:srgbClr val="41515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10144" y="2761488"/>
            <a:ext cx="118872" cy="1060704"/>
          </a:xfrm>
          <a:prstGeom prst="rect">
            <a:avLst/>
          </a:prstGeom>
          <a:solidFill>
            <a:srgbClr val="D78B2E"/>
          </a:solidFill>
          <a:ln w="12700">
            <a:solidFill>
              <a:srgbClr val="D78B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980944"/>
            <a:ext cx="2935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80" b="1" kern="0" spc="90" dirty="0">
                <a:solidFill>
                  <a:srgbClr val="D78B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FLASHSTOCK</a:t>
            </a:r>
            <a:endParaRPr lang="en-US" sz="88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264408"/>
            <a:ext cx="293522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Lotes seleccionados y verificados vendidos en campañas puntuales.</a:t>
            </a:r>
            <a:endParaRPr lang="en-US" sz="1140" dirty="0"/>
          </a:p>
        </p:txBody>
      </p:sp>
      <p:sp>
        <p:nvSpPr>
          <p:cNvPr id="18" name="Shape 16"/>
          <p:cNvSpPr/>
          <p:nvPr/>
        </p:nvSpPr>
        <p:spPr>
          <a:xfrm>
            <a:off x="658368" y="4160520"/>
            <a:ext cx="5230368" cy="1060704"/>
          </a:xfrm>
          <a:prstGeom prst="roundRect">
            <a:avLst>
              <a:gd name="adj" fmla="val 6897"/>
            </a:avLst>
          </a:prstGeom>
          <a:solidFill>
            <a:srgbClr val="2D3B44"/>
          </a:solidFill>
          <a:ln w="10160">
            <a:solidFill>
              <a:srgbClr val="41515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4160520"/>
            <a:ext cx="118872" cy="1060704"/>
          </a:xfrm>
          <a:prstGeom prst="rect">
            <a:avLst/>
          </a:prstGeom>
          <a:solidFill>
            <a:srgbClr val="2F708D"/>
          </a:solidFill>
          <a:ln w="12700">
            <a:solidFill>
              <a:srgbClr val="2F708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9264" y="4379976"/>
            <a:ext cx="4718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80" b="1" kern="0" spc="90" dirty="0">
                <a:solidFill>
                  <a:srgbClr val="2F70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ICCM VENUE</a:t>
            </a:r>
            <a:endParaRPr lang="en-US" sz="880" dirty="0"/>
          </a:p>
        </p:txBody>
      </p:sp>
      <p:sp>
        <p:nvSpPr>
          <p:cNvPr id="21" name="Text 19"/>
          <p:cNvSpPr txBox="1"/>
          <p:nvPr/>
        </p:nvSpPr>
        <p:spPr>
          <a:xfrm>
            <a:off x="969264" y="4663440"/>
            <a:ext cx="47183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Un espacio en Sintra listo para recibir, producir y transmitir eventos.</a:t>
            </a:r>
            <a:endParaRPr lang="en-US" sz="1140" dirty="0"/>
          </a:p>
        </p:txBody>
      </p:sp>
      <p:sp>
        <p:nvSpPr>
          <p:cNvPr id="22" name="Shape 20"/>
          <p:cNvSpPr/>
          <p:nvPr/>
        </p:nvSpPr>
        <p:spPr>
          <a:xfrm>
            <a:off x="6163056" y="4160520"/>
            <a:ext cx="5230368" cy="1060704"/>
          </a:xfrm>
          <a:prstGeom prst="roundRect">
            <a:avLst>
              <a:gd name="adj" fmla="val 6897"/>
            </a:avLst>
          </a:prstGeom>
          <a:solidFill>
            <a:srgbClr val="2D3B44"/>
          </a:solidFill>
          <a:ln w="10160">
            <a:solidFill>
              <a:srgbClr val="4151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63056" y="4160520"/>
            <a:ext cx="118872" cy="1060704"/>
          </a:xfrm>
          <a:prstGeom prst="rect">
            <a:avLst/>
          </a:prstGeom>
          <a:solidFill>
            <a:srgbClr val="C74444"/>
          </a:solidFill>
          <a:ln w="12700">
            <a:solidFill>
              <a:srgbClr val="C7444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73952" y="4379976"/>
            <a:ext cx="4718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80" b="1" kern="0" spc="90" dirty="0">
                <a:solidFill>
                  <a:srgbClr val="C7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VISUAL777.PT</a:t>
            </a:r>
            <a:endParaRPr lang="en-US" sz="880" dirty="0"/>
          </a:p>
        </p:txBody>
      </p:sp>
      <p:sp>
        <p:nvSpPr>
          <p:cNvPr id="25" name="Text 23"/>
          <p:cNvSpPr txBox="1"/>
          <p:nvPr/>
        </p:nvSpPr>
        <p:spPr>
          <a:xfrm>
            <a:off x="6473952" y="4663440"/>
            <a:ext cx="47183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Producción audiovisual profesional dentro y fuera del venue.</a:t>
            </a:r>
            <a:endParaRPr lang="en-US" sz="1140" dirty="0"/>
          </a:p>
        </p:txBody>
      </p:sp>
      <p:sp>
        <p:nvSpPr>
          <p:cNvPr id="26" name="Text 24"/>
          <p:cNvSpPr txBox="1"/>
          <p:nvPr/>
        </p:nvSpPr>
        <p:spPr>
          <a:xfrm>
            <a:off x="694944" y="5696712"/>
            <a:ext cx="20848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30" b="1" kern="0" spc="100" dirty="0">
                <a:solidFill>
                  <a:srgbClr val="D1A25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PRÓXIMA REGLA DE DECISIÓN</a:t>
            </a:r>
            <a:endParaRPr lang="en-US" sz="830" dirty="0"/>
          </a:p>
        </p:txBody>
      </p:sp>
      <p:sp>
        <p:nvSpPr>
          <p:cNvPr id="27" name="Text 25"/>
          <p:cNvSpPr txBox="1"/>
          <p:nvPr/>
        </p:nvSpPr>
        <p:spPr>
          <a:xfrm>
            <a:off x="2907792" y="5568696"/>
            <a:ext cx="7763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2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¿Esto hace la promesa más clara, la operación más fiable o la venta más medible?</a:t>
            </a:r>
            <a:endParaRPr lang="en-US" sz="1520" dirty="0"/>
          </a:p>
        </p:txBody>
      </p:sp>
      <p:sp>
        <p:nvSpPr>
          <p:cNvPr id="28" name="Text 26"/>
          <p:cNvSpPr txBox="1"/>
          <p:nvPr/>
        </p:nvSpPr>
        <p:spPr>
          <a:xfrm>
            <a:off x="694944" y="6528816"/>
            <a:ext cx="5815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80" b="1" kern="0" spc="90" dirty="0">
                <a:solidFill>
                  <a:srgbClr val="A9B2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VERSIÓN 1.0  |  BASE PARA VALIDAR, NO PARA SOBREPROMETER</a:t>
            </a:r>
            <a:endParaRPr lang="en-US" sz="780" dirty="0"/>
          </a:p>
        </p:txBody>
      </p:sp>
      <p:sp>
        <p:nvSpPr>
          <p:cNvPr id="29" name="Text 27"/>
          <p:cNvSpPr txBox="1"/>
          <p:nvPr/>
        </p:nvSpPr>
        <p:spPr>
          <a:xfrm>
            <a:off x="11109960" y="65288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A9B2B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850" dirty="0"/>
          </a:p>
        </p:txBody>
      </p:sp>
    </p:spTree>
  </p:cSld>
  <p:clrMapOvr>
    <a:masterClrMapping/>
  </p:clrMapOvr>
</p:sld>
</file>

<file path=ppt/theme/_rels/theme1.xml.rels><?xml version="1.0" encoding="UTF-8" standalone="yes"?><Relationships xmlns="http://schemas.openxmlformats.org/package/2006/relationships"></Relationships>
</file>

<file path=ppt/theme/theme0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30</Slides>
  <Notes>30</Notes>
  <HiddenSlides>0</HiddenSlides>
  <MMClips>0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Portafolio estratégico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Portafolio Estratégico V1.0</dc:title>
  <dc:subject>Visión, misión, posicionamiento, DAFO y hoja de ruta de cinco proyectos</dc:subject>
  <dc:creator>OpenAI - preparado para el equipo del portafolio</dc:creator>
  <cp:lastModifiedBy>OpenAI - preparado para el equipo del portafolio</cp:lastModifiedBy>
  <cp:revision>1</cp:revision>
  <dcterms:created xsi:type="dcterms:W3CDTF">2026-07-16T12:23:25Z</dcterms:created>
  <dcterms:modified xsi:type="dcterms:W3CDTF">2026-07-16T12:23:25Z</dcterms:modified>
</cp:coreProperties>
</file>